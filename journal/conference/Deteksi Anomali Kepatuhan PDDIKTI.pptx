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Presentasi ini membahas deteksi anomali kepatuhan pada data akademik yang dilaporkan perguruan tinggi Indonesia ke PDDIKTI, hanya dengan data PDDIKTI, serta membandingkan aturan validasi eksplisit dengan detektor machine learning tanpa label (unsupervised).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Perguruan tinggi wajib menerapkan penjaminan mutu internal dan melapor ke PDDIKTI, sesuai Permendikbudristek 53/2023 dan 39/2025. Pengiriman dilakukan melalui Feeder, yang memvalidasi data sebelum sinkronisasi. Akurasi data ini memengaruhi akreditasi, pemantauan kinerja, dan akuntabilitas publik.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Validasi berbasis aturan menangkap pelanggaran yang bisa dirumuskan. Aturan tidak bisa menangkap data yang memenuhi semua ambang tetapi janggal dalam kombinasi, dan setiap jenis kesalahan baru memerlukan aturan baru. Detektor unsupervised dapat melengkapi aturan karena tidak memerlukan label, tetapi belum dikaji secara sistematis pada data seperti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Kontribusi: himpunan aturan yang diturunkan dari panduan Feeder dan dipetakan ke atribut PDDIKTI; protokol evaluasi berbasis anomali yang diinjeksikan; dan perbandingan empiris antara aturan, Isolation Forest, Local Outlier Factor, autoencoder, serta gabungannya.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direplikasi dari web service Feeder ke basis data relasional. Baris pertama menunjukkan tiga entitas yang dipakai dalam eksperimen. Aktivitas mengajar: total 1.765, dan 1.636 di antaranya memiliki jumlah pertemuan rencana dan realisasi sehingga dipakai dalam eksperimen.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ini diambil dari validasi bawaan aplikasi Feeder dan semuanya dapat dievaluasi hanya dengan data PDDIKTI. Setiap aturan adalah predikat atas satu data; sebuah data ditandai jika ada aturan yang terpenuhi, dan daftar aturan yang dilanggar disimpan sebagai penjelasan. Eksperimen mencakup tiga entitas yang aturannya bisa langsung dievaluasi: data mahasiswa per semester, mata kuliah, dan aktivitas mengajar dosen.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dievaluasi per tabel entitas, sehingga tidak perlu join dengan sistem eksternal. Secara paralel, tiga detektor unsupervised memberi skor pada fitur numerik dari tabel yang sama. Detektor gabungan menempatkan data yang ditandai aturan di urutan pertama, lalu mengurutkan sisanya berdasarkan rata-rata peringkat persentil dari tiga skor ML; data ditandai jika ada aturan yang terpenuhi atau jika data termasuk top-k peringkat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Ketiga detektor bersifat unsupervised dan dilatih terpisah untuk setiap entitas pada data tanpa label, setelah fitur distandardisasi. Isolation Forest memakai 200 pohon, LOF memakai 20 tetangga, dan autoencoder adalah multilayer perceptron scikit-learn dengan tiga lapisan tersembunyi berukuran 2d, floor(d/2)+1, dan 2d untuk d fitur masukan, dilatih maksimal 400 iterasi.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hasil ekstraksi sudah lolos validasi Feeder: tidak ada data pada tiga entitas yang melanggar aturan. Karena itu ground truth dibuat dengan menginjeksikan anomali ke salinan data. Selain pelanggaran aturan, dua kelompok lain menguji detektor ML di luar aturan: data yang lolos semua ambang tetapi menyimpang dalam kombinasi, dan data yang nilainya digeser sebesar kelipatan simpangan baku atribut. Aturan dinilai dengan precision, recall, dan F1; detektor ML dengan AUC dan Precision@k, dengan k sama dengan jumlah anomali yang diinjeksi. Karena anomalinya sintetis, hasil ini mengukur kemampuan deteksi dalam kondisi terkendali, bukan prevalensi pelanggaran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Mahasiswa-semester: detektor gabungan memberi AUC terbaik, 0,982, dan P@k terbaik, 0,823. Mata kuliah: aturan dan detektor gabungan sempurna, tetapi ingat bahwa anomali berbasis aturan dibangkitkan dari aturan yang sama, jadi hasil ini terjadi secara konstruksi. Autoencoder pada mata kuliah memiliki variansi besar karena hanya ada 348 data mata kuliah. Pengajaran: Isolation Forest memberi AUC terbaik, 0,979, dan detektor gabungan P@k terbaik, 0,820; aturan saja hanya mencapai AUC 0,750 karena separuh anomali pengajaran yang diinjeksi bersifat halus.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Anomali halus lolos semua aturan, jadi inilah perbandingan yang paling informatif. Aturan hampir tidak menandai satu pun; nilai kecil yang bukan nol berasal dari pemecahan seri secara acak pada skor biner aturan saat himpunan top-k diisi. Pada data pengajaran, Isolation Forest dan LOF menemukan sekitar dua pertiga. Pada data mahasiswa-semester, detektor terbaik, yaitu autoencoder, menemukan 39 persen, dan Isolation Forest hampir tidak menemukan apa pun. Baris di bawah setiap grafik adalah recall top-k untuk anomali berbasis aturan: aturan mendeteksi semuanya, secara konstruksi.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poin utama. Detektor gabungan memberi AUC terbaik pada data mahasiswa-semester karena aturan menempatkan pelanggaran eksplisit di urutan pertama, tetapi hanya sedikit menemukan anomali halus pada entitas itu. Pada data pengajaran, Isolation Forest dan LOF menemukan sekitar dua pertiga anomali halus. Pada mahasiswa-semester, yang terbaik adalah autoencoder dengan 39 persen. Secara keseluruhan, deteksi berbasis aturan dan ML saling melengkapi.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dibatasi oleh kondisi eksperimen yang terkendali. Validasi pada pelanggaran yang terjadi secara alami masih menjadi penelitian lanjutan.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mendeteksi pelanggaran eksplisit secara pasti, tetapi melewatkan penyimpangan yang memenuhi semua ambang. Isolation Forest, LOF, dan autoencoder menemukan sebagian penyimpangan itu, dengan tingkat yang bergantung pada entitas. Langkah berikutnya: pelanggaran alami, lebih banyak perguruan tinggi, dan entitas yang belum dicakup.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Silakan jika ada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6B"/>
                </a:solidFill>
                <a:latin typeface="IBM Plex Sans" pitchFamily="34" charset="0"/>
                <a:ea typeface="IBM Plex Sans" pitchFamily="34" charset="-122"/>
                <a:cs typeface="IBM Plex Sans" pitchFamily="34" charset="-120"/>
              </a:rPr>
              <a:t>PDDIKTI · KEPATUHAN REGULASI · DETEKSI ANOMALI</a:t>
            </a:r>
            <a:endParaRPr lang="en-US" sz="1200" dirty="0"/>
          </a:p>
        </p:txBody>
      </p:sp>
      <p:sp>
        <p:nvSpPr>
          <p:cNvPr id="3" name="Text 1"/>
          <p:cNvSpPr/>
          <p:nvPr>
            <p:ph type="title"/>
          </p:nvPr>
        </p:nvSpPr>
        <p:spPr>
          <a:xfrm>
            <a:off x="812800" y="1280120"/>
            <a:ext cx="9810750" cy="22606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7F6F2"/>
                </a:solidFill>
                <a:latin typeface="Source Serif 4" pitchFamily="18" charset="0"/>
                <a:ea typeface="Source Serif 4" pitchFamily="18" charset="-122"/>
                <a:cs typeface="Source Serif 4" pitchFamily="18" charset="-120"/>
              </a:rPr>
              <a:t>Deteksi Anomali Kepatuhan pada Data Akademik Perguruan Tinggi Menggunakan Metode Berbasis Aturan dan Machine Learning</a:t>
            </a:r>
            <a:endParaRPr lang="en-US" sz="4000" dirty="0"/>
          </a:p>
        </p:txBody>
      </p:sp>
      <p:sp>
        <p:nvSpPr>
          <p:cNvPr id="4" name="Text 2"/>
          <p:cNvSpPr/>
          <p:nvPr/>
        </p:nvSpPr>
        <p:spPr>
          <a:xfrm>
            <a:off x="812800" y="5445853"/>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Benny Leonard Enrico Panggabean · Amil Ahmad Ilham · Novy N. R. A. Mokobombang</a:t>
            </a:r>
            <a:endParaRPr lang="en-US" sz="16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Teknik Informatika, Fakultas Teknik, Universitas Hasanuddin, Makassar, Indonesia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MOTIVASI</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Mengapa data PDDIKTI penting</a:t>
            </a:r>
            <a:endParaRPr lang="en-US" sz="3600" dirty="0"/>
          </a:p>
        </p:txBody>
      </p:sp>
      <p:sp>
        <p:nvSpPr>
          <p:cNvPr id="4" name="Shape 2"/>
          <p:cNvSpPr/>
          <p:nvPr/>
        </p:nvSpPr>
        <p:spPr>
          <a:xfrm>
            <a:off x="819150" y="1992578"/>
            <a:ext cx="3373967" cy="3843073"/>
          </a:xfrm>
          <a:prstGeom prst="roundRect">
            <a:avLst>
              <a:gd name="adj" fmla="val 2823"/>
            </a:avLst>
          </a:prstGeom>
          <a:solidFill>
            <a:srgbClr val="FDFCFA"/>
          </a:solidFill>
          <a:ln w="12700">
            <a:solidFill>
              <a:srgbClr val="E2DED5"/>
            </a:solidFill>
            <a:prstDash val="solid"/>
          </a:ln>
        </p:spPr>
      </p:sp>
      <p:sp>
        <p:nvSpPr>
          <p:cNvPr id="5" name="Text 3"/>
          <p:cNvSpPr/>
          <p:nvPr/>
        </p:nvSpPr>
        <p:spPr>
          <a:xfrm>
            <a:off x="1130300" y="2303728"/>
            <a:ext cx="28342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01A"/>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130300" y="2644048"/>
            <a:ext cx="283421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Pelaporan wajib</a:t>
            </a:r>
            <a:endParaRPr lang="en-US" sz="2200" dirty="0"/>
          </a:p>
        </p:txBody>
      </p:sp>
      <p:sp>
        <p:nvSpPr>
          <p:cNvPr id="7" name="Text 5"/>
          <p:cNvSpPr/>
          <p:nvPr/>
        </p:nvSpPr>
        <p:spPr>
          <a:xfrm>
            <a:off x="1130300" y="3106275"/>
            <a:ext cx="2834217" cy="144753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Perguruan tinggi wajib menjalankan penjaminan mutu internal dan melaporkan data akademik ke PDDIKTI.</a:t>
            </a:r>
            <a:endParaRPr lang="en-US" sz="1600" dirty="0"/>
          </a:p>
        </p:txBody>
      </p:sp>
      <p:sp>
        <p:nvSpPr>
          <p:cNvPr id="8" name="Shape 6"/>
          <p:cNvSpPr/>
          <p:nvPr/>
        </p:nvSpPr>
        <p:spPr>
          <a:xfrm>
            <a:off x="4409017" y="1992578"/>
            <a:ext cx="3373967" cy="3843073"/>
          </a:xfrm>
          <a:prstGeom prst="roundRect">
            <a:avLst>
              <a:gd name="adj" fmla="val 2823"/>
            </a:avLst>
          </a:prstGeom>
          <a:solidFill>
            <a:srgbClr val="FDFCFA"/>
          </a:solidFill>
          <a:ln w="12700">
            <a:solidFill>
              <a:srgbClr val="E2DED5"/>
            </a:solidFill>
            <a:prstDash val="solid"/>
          </a:ln>
        </p:spPr>
      </p:sp>
      <p:sp>
        <p:nvSpPr>
          <p:cNvPr id="9" name="Text 7"/>
          <p:cNvSpPr/>
          <p:nvPr/>
        </p:nvSpPr>
        <p:spPr>
          <a:xfrm>
            <a:off x="4720167" y="2303728"/>
            <a:ext cx="28342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01A"/>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4720167" y="2644048"/>
            <a:ext cx="283421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Validasi Feeder</a:t>
            </a:r>
            <a:endParaRPr lang="en-US" sz="2200" dirty="0"/>
          </a:p>
        </p:txBody>
      </p:sp>
      <p:sp>
        <p:nvSpPr>
          <p:cNvPr id="11" name="Text 9"/>
          <p:cNvSpPr/>
          <p:nvPr/>
        </p:nvSpPr>
        <p:spPr>
          <a:xfrm>
            <a:off x="4720167" y="3106275"/>
            <a:ext cx="2834217"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Data dikirim melalui aplikasi Feeder, yang menerapkan aturan validasi sebelum sinkronisasi.</a:t>
            </a:r>
            <a:endParaRPr lang="en-US" sz="1600" dirty="0"/>
          </a:p>
        </p:txBody>
      </p:sp>
      <p:sp>
        <p:nvSpPr>
          <p:cNvPr id="12" name="Shape 10"/>
          <p:cNvSpPr/>
          <p:nvPr/>
        </p:nvSpPr>
        <p:spPr>
          <a:xfrm>
            <a:off x="7998884" y="1992578"/>
            <a:ext cx="3373967" cy="3843073"/>
          </a:xfrm>
          <a:prstGeom prst="roundRect">
            <a:avLst>
              <a:gd name="adj" fmla="val 2823"/>
            </a:avLst>
          </a:prstGeom>
          <a:solidFill>
            <a:srgbClr val="FDFCFA"/>
          </a:solidFill>
          <a:ln w="12700">
            <a:solidFill>
              <a:srgbClr val="E2DED5"/>
            </a:solidFill>
            <a:prstDash val="solid"/>
          </a:ln>
        </p:spPr>
      </p:sp>
      <p:sp>
        <p:nvSpPr>
          <p:cNvPr id="13" name="Text 11"/>
          <p:cNvSpPr/>
          <p:nvPr/>
        </p:nvSpPr>
        <p:spPr>
          <a:xfrm>
            <a:off x="8310034" y="2303728"/>
            <a:ext cx="28342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01A"/>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8310034" y="2644048"/>
            <a:ext cx="305646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Akurasi berdampak</a:t>
            </a:r>
            <a:endParaRPr lang="en-US" sz="2200" dirty="0"/>
          </a:p>
        </p:txBody>
      </p:sp>
      <p:sp>
        <p:nvSpPr>
          <p:cNvPr id="15" name="Text 13"/>
          <p:cNvSpPr/>
          <p:nvPr/>
        </p:nvSpPr>
        <p:spPr>
          <a:xfrm>
            <a:off x="8310034" y="3106275"/>
            <a:ext cx="2834217" cy="144753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Data yang melanggar aturan pelaporan melemahkan akreditasi, pemantauan kinerja, dan akuntabilitas publik.</a:t>
            </a:r>
            <a:endParaRPr lang="en-US" sz="16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 · Deteksi anomali kepatuhan pada data PDDIKTI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CELAH PENELITIAN</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Batas kemampuan aturan</a:t>
            </a:r>
            <a:endParaRPr lang="en-US" sz="3600" dirty="0"/>
          </a:p>
        </p:txBody>
      </p:sp>
      <p:sp>
        <p:nvSpPr>
          <p:cNvPr id="4" name="Shape 2"/>
          <p:cNvSpPr/>
          <p:nvPr/>
        </p:nvSpPr>
        <p:spPr>
          <a:xfrm>
            <a:off x="819150" y="1992578"/>
            <a:ext cx="5168900" cy="2222235"/>
          </a:xfrm>
          <a:prstGeom prst="roundRect">
            <a:avLst>
              <a:gd name="adj" fmla="val 4286"/>
            </a:avLst>
          </a:prstGeom>
          <a:solidFill>
            <a:srgbClr val="FDFCFA"/>
          </a:solidFill>
          <a:ln w="12700">
            <a:solidFill>
              <a:srgbClr val="E2DED5"/>
            </a:solidFill>
            <a:prstDash val="solid"/>
          </a:ln>
        </p:spPr>
      </p:sp>
      <p:sp>
        <p:nvSpPr>
          <p:cNvPr id="5" name="Text 3"/>
          <p:cNvSpPr/>
          <p:nvPr/>
        </p:nvSpPr>
        <p:spPr>
          <a:xfrm>
            <a:off x="1130300" y="2303728"/>
            <a:ext cx="468299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Aturan menangkap</a:t>
            </a:r>
            <a:endParaRPr lang="en-US" sz="2200" dirty="0"/>
          </a:p>
        </p:txBody>
      </p:sp>
      <p:sp>
        <p:nvSpPr>
          <p:cNvPr id="6" name="Text 4"/>
          <p:cNvSpPr/>
          <p:nvPr/>
        </p:nvSpPr>
        <p:spPr>
          <a:xfrm>
            <a:off x="1187958" y="2765955"/>
            <a:ext cx="4617720" cy="87868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3F4A5C"/>
                </a:solidFill>
                <a:latin typeface="IBM Plex Sans" pitchFamily="34" charset="0"/>
                <a:ea typeface="IBM Plex Sans" pitchFamily="34" charset="-122"/>
                <a:cs typeface="IBM Plex Sans" pitchFamily="34" charset="-120"/>
              </a:rPr>
              <a:t>Ambang eksplisit, misalnya IPK di atas 4,0</a:t>
            </a:r>
            <a:endParaRPr lang="en-US" sz="1600" dirty="0"/>
          </a:p>
          <a:p>
            <a:pPr algn="l" marL="196342" indent="-196342">
              <a:lnSpc>
                <a:spcPts val="2240"/>
              </a:lnSpc>
              <a:buSzPct val="100000"/>
              <a:buChar char="•"/>
            </a:pPr>
            <a:r>
              <a:rPr lang="en-US" sz="1600" dirty="0">
                <a:solidFill>
                  <a:srgbClr val="3F4A5C"/>
                </a:solidFill>
                <a:latin typeface="IBM Plex Sans" pitchFamily="34" charset="0"/>
                <a:ea typeface="IBM Plex Sans" pitchFamily="34" charset="-122"/>
                <a:cs typeface="IBM Plex Sans" pitchFamily="34" charset="-120"/>
              </a:rPr>
              <a:t>Beban SKS semester di atas 24</a:t>
            </a:r>
            <a:endParaRPr lang="en-US" sz="1600" dirty="0"/>
          </a:p>
          <a:p>
            <a:pPr algn="l" marL="196342" indent="-196342">
              <a:lnSpc>
                <a:spcPts val="2240"/>
              </a:lnSpc>
              <a:buSzPct val="100000"/>
              <a:buChar char="•"/>
            </a:pPr>
            <a:r>
              <a:rPr lang="en-US" sz="1600" dirty="0">
                <a:solidFill>
                  <a:srgbClr val="3F4A5C"/>
                </a:solidFill>
                <a:latin typeface="IBM Plex Sans" pitchFamily="34" charset="0"/>
                <a:ea typeface="IBM Plex Sans" pitchFamily="34" charset="-122"/>
                <a:cs typeface="IBM Plex Sans" pitchFamily="34" charset="-120"/>
              </a:rPr>
              <a:t>Hasil yang pasti dan dapat dijelaskan</a:t>
            </a:r>
            <a:endParaRPr lang="en-US" sz="1600" dirty="0"/>
          </a:p>
        </p:txBody>
      </p:sp>
      <p:sp>
        <p:nvSpPr>
          <p:cNvPr id="7" name="Shape 5"/>
          <p:cNvSpPr/>
          <p:nvPr/>
        </p:nvSpPr>
        <p:spPr>
          <a:xfrm>
            <a:off x="6203950" y="1992578"/>
            <a:ext cx="5168900" cy="2222235"/>
          </a:xfrm>
          <a:prstGeom prst="roundRect">
            <a:avLst>
              <a:gd name="adj" fmla="val 4286"/>
            </a:avLst>
          </a:prstGeom>
          <a:solidFill>
            <a:srgbClr val="FDFCFA"/>
          </a:solidFill>
          <a:ln w="12700">
            <a:solidFill>
              <a:srgbClr val="E2DED5"/>
            </a:solidFill>
            <a:prstDash val="solid"/>
          </a:ln>
        </p:spPr>
      </p:sp>
      <p:sp>
        <p:nvSpPr>
          <p:cNvPr id="8" name="Text 6"/>
          <p:cNvSpPr/>
          <p:nvPr/>
        </p:nvSpPr>
        <p:spPr>
          <a:xfrm>
            <a:off x="6515100" y="2303728"/>
            <a:ext cx="468299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Aturan melewatkan</a:t>
            </a:r>
            <a:endParaRPr lang="en-US" sz="2200" dirty="0"/>
          </a:p>
        </p:txBody>
      </p:sp>
      <p:sp>
        <p:nvSpPr>
          <p:cNvPr id="9" name="Text 7"/>
          <p:cNvSpPr/>
          <p:nvPr/>
        </p:nvSpPr>
        <p:spPr>
          <a:xfrm>
            <a:off x="6572758" y="2765955"/>
            <a:ext cx="4617720" cy="1163108"/>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3F4A5C"/>
                </a:solidFill>
                <a:latin typeface="IBM Plex Sans" pitchFamily="34" charset="0"/>
                <a:ea typeface="IBM Plex Sans" pitchFamily="34" charset="-122"/>
                <a:cs typeface="IBM Plex Sans" pitchFamily="34" charset="-120"/>
              </a:rPr>
              <a:t>Data yang lolos semua ambang tetapi janggal dalam kombinasi</a:t>
            </a:r>
            <a:endParaRPr lang="en-US" sz="1600" dirty="0"/>
          </a:p>
          <a:p>
            <a:pPr algn="l" marL="196342" indent="-196342">
              <a:lnSpc>
                <a:spcPts val="2240"/>
              </a:lnSpc>
              <a:buSzPct val="100000"/>
              <a:buChar char="•"/>
            </a:pPr>
            <a:r>
              <a:rPr lang="en-US" sz="1600" dirty="0">
                <a:solidFill>
                  <a:srgbClr val="3F4A5C"/>
                </a:solidFill>
                <a:latin typeface="IBM Plex Sans" pitchFamily="34" charset="0"/>
                <a:ea typeface="IBM Plex Sans" pitchFamily="34" charset="-122"/>
                <a:cs typeface="IBM Plex Sans" pitchFamily="34" charset="-120"/>
              </a:rPr>
              <a:t>Jenis kesalahan baru, sampai aturan baru ditulis</a:t>
            </a:r>
            <a:endParaRPr lang="en-US" sz="1600" dirty="0"/>
          </a:p>
        </p:txBody>
      </p:sp>
      <p:sp>
        <p:nvSpPr>
          <p:cNvPr id="10" name="Text 8"/>
          <p:cNvSpPr/>
          <p:nvPr/>
        </p:nvSpPr>
        <p:spPr>
          <a:xfrm>
            <a:off x="812800" y="4576763"/>
            <a:ext cx="981075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Deteksi outlier unsupervised tidak memerlukan label pelanggaran, tetapi perilakunya pada data pelaporan akademik belum banyak dikaji secara sistematis.</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 · Deteksi anomali kepatuhan pada data PDDIKTI</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6B"/>
                </a:solidFill>
                <a:latin typeface="IBM Plex Sans" pitchFamily="34" charset="0"/>
                <a:ea typeface="IBM Plex Sans" pitchFamily="34" charset="-122"/>
                <a:cs typeface="IBM Plex Sans" pitchFamily="34" charset="-120"/>
              </a:rPr>
              <a:t>PERTANYAAN PENELITIAN</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Source Serif 4" pitchFamily="18" charset="0"/>
                <a:ea typeface="Source Serif 4" pitchFamily="18" charset="-122"/>
                <a:cs typeface="Source Serif 4" pitchFamily="18" charset="-120"/>
              </a:rPr>
              <a:t>Hanya dengan data PDDIKTI</a:t>
            </a:r>
            <a:endParaRPr lang="en-US" sz="3600" dirty="0"/>
          </a:p>
        </p:txBody>
      </p:sp>
      <p:sp>
        <p:nvSpPr>
          <p:cNvPr id="4" name="Shape 2"/>
          <p:cNvSpPr/>
          <p:nvPr/>
        </p:nvSpPr>
        <p:spPr>
          <a:xfrm>
            <a:off x="812800" y="1992578"/>
            <a:ext cx="10566400" cy="0"/>
          </a:xfrm>
          <a:prstGeom prst="line">
            <a:avLst/>
          </a:prstGeom>
          <a:noFill/>
          <a:ln w="12700">
            <a:solidFill>
              <a:srgbClr val="3A4A6B"/>
            </a:solidFill>
            <a:prstDash val="solid"/>
          </a:ln>
        </p:spPr>
      </p:sp>
      <p:sp>
        <p:nvSpPr>
          <p:cNvPr id="5" name="Text 3"/>
          <p:cNvSpPr/>
          <p:nvPr/>
        </p:nvSpPr>
        <p:spPr>
          <a:xfrm>
            <a:off x="812800" y="2202128"/>
            <a:ext cx="812800" cy="665427"/>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0A36B"/>
                </a:solidFill>
                <a:latin typeface="Source Serif 4" pitchFamily="18" charset="0"/>
                <a:ea typeface="Source Serif 4" pitchFamily="18" charset="-122"/>
                <a:cs typeface="Source Serif 4" pitchFamily="18" charset="-120"/>
              </a:rPr>
              <a:t>1</a:t>
            </a:r>
            <a:endParaRPr lang="en-US" sz="3600" dirty="0"/>
          </a:p>
        </p:txBody>
      </p:sp>
      <p:sp>
        <p:nvSpPr>
          <p:cNvPr id="6" name="Text 4"/>
          <p:cNvSpPr/>
          <p:nvPr/>
        </p:nvSpPr>
        <p:spPr>
          <a:xfrm>
            <a:off x="1879600" y="2354528"/>
            <a:ext cx="9499600" cy="360627"/>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6F2"/>
                </a:solidFill>
                <a:latin typeface="IBM Plex Sans" pitchFamily="34" charset="0"/>
                <a:ea typeface="IBM Plex Sans" pitchFamily="34" charset="-122"/>
                <a:cs typeface="IBM Plex Sans" pitchFamily="34" charset="-120"/>
              </a:rPr>
              <a:t>Pelanggaran apa saja yang dapat dideteksi aturan validasi Feeder?</a:t>
            </a:r>
            <a:endParaRPr lang="en-US" sz="2200" dirty="0"/>
          </a:p>
        </p:txBody>
      </p:sp>
      <p:sp>
        <p:nvSpPr>
          <p:cNvPr id="7" name="Shape 5"/>
          <p:cNvSpPr/>
          <p:nvPr/>
        </p:nvSpPr>
        <p:spPr>
          <a:xfrm>
            <a:off x="812800" y="3051705"/>
            <a:ext cx="10566400" cy="0"/>
          </a:xfrm>
          <a:prstGeom prst="line">
            <a:avLst/>
          </a:prstGeom>
          <a:noFill/>
          <a:ln w="12700">
            <a:solidFill>
              <a:srgbClr val="3A4A6B"/>
            </a:solidFill>
            <a:prstDash val="solid"/>
          </a:ln>
        </p:spPr>
      </p:sp>
      <p:sp>
        <p:nvSpPr>
          <p:cNvPr id="8" name="Text 6"/>
          <p:cNvSpPr/>
          <p:nvPr/>
        </p:nvSpPr>
        <p:spPr>
          <a:xfrm>
            <a:off x="812800" y="3276468"/>
            <a:ext cx="812800" cy="665427"/>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0A36B"/>
                </a:solidFill>
                <a:latin typeface="Source Serif 4" pitchFamily="18" charset="0"/>
                <a:ea typeface="Source Serif 4" pitchFamily="18" charset="-122"/>
                <a:cs typeface="Source Serif 4" pitchFamily="18" charset="-120"/>
              </a:rPr>
              <a:t>2</a:t>
            </a:r>
            <a:endParaRPr lang="en-US" sz="3600" dirty="0"/>
          </a:p>
        </p:txBody>
      </p:sp>
      <p:sp>
        <p:nvSpPr>
          <p:cNvPr id="9" name="Text 7"/>
          <p:cNvSpPr/>
          <p:nvPr/>
        </p:nvSpPr>
        <p:spPr>
          <a:xfrm>
            <a:off x="1879600" y="3261255"/>
            <a:ext cx="9784588" cy="695854"/>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6F2"/>
                </a:solidFill>
                <a:latin typeface="IBM Plex Sans" pitchFamily="34" charset="0"/>
                <a:ea typeface="IBM Plex Sans" pitchFamily="34" charset="-122"/>
                <a:cs typeface="IBM Plex Sans" pitchFamily="34" charset="-120"/>
              </a:rPr>
              <a:t>Seberapa baik detektor unsupervised menemukan data yang lolos semua aturan?</a:t>
            </a:r>
            <a:endParaRPr lang="en-US" sz="2200" dirty="0"/>
          </a:p>
        </p:txBody>
      </p:sp>
      <p:sp>
        <p:nvSpPr>
          <p:cNvPr id="10" name="Shape 8"/>
          <p:cNvSpPr/>
          <p:nvPr/>
        </p:nvSpPr>
        <p:spPr>
          <a:xfrm>
            <a:off x="812800" y="4141259"/>
            <a:ext cx="10566400" cy="0"/>
          </a:xfrm>
          <a:prstGeom prst="line">
            <a:avLst/>
          </a:prstGeom>
          <a:noFill/>
          <a:ln w="12700">
            <a:solidFill>
              <a:srgbClr val="3A4A6B"/>
            </a:solidFill>
            <a:prstDash val="solid"/>
          </a:ln>
        </p:spPr>
      </p:sp>
      <p:sp>
        <p:nvSpPr>
          <p:cNvPr id="11" name="Shape 9"/>
          <p:cNvSpPr/>
          <p:nvPr/>
        </p:nvSpPr>
        <p:spPr>
          <a:xfrm>
            <a:off x="812800" y="5200386"/>
            <a:ext cx="10566400" cy="0"/>
          </a:xfrm>
          <a:prstGeom prst="line">
            <a:avLst/>
          </a:prstGeom>
          <a:noFill/>
          <a:ln w="12700">
            <a:solidFill>
              <a:srgbClr val="3A4A6B"/>
            </a:solidFill>
            <a:prstDash val="solid"/>
          </a:ln>
        </p:spPr>
      </p:sp>
      <p:sp>
        <p:nvSpPr>
          <p:cNvPr id="12" name="Text 10"/>
          <p:cNvSpPr/>
          <p:nvPr/>
        </p:nvSpPr>
        <p:spPr>
          <a:xfrm>
            <a:off x="812800" y="4350809"/>
            <a:ext cx="812800" cy="665427"/>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0A36B"/>
                </a:solidFill>
                <a:latin typeface="Source Serif 4" pitchFamily="18" charset="0"/>
                <a:ea typeface="Source Serif 4" pitchFamily="18" charset="-122"/>
                <a:cs typeface="Source Serif 4" pitchFamily="18" charset="-120"/>
              </a:rPr>
              <a:t>3</a:t>
            </a:r>
            <a:endParaRPr lang="en-US" sz="3600" dirty="0"/>
          </a:p>
        </p:txBody>
      </p:sp>
      <p:sp>
        <p:nvSpPr>
          <p:cNvPr id="13" name="Text 11"/>
          <p:cNvSpPr/>
          <p:nvPr/>
        </p:nvSpPr>
        <p:spPr>
          <a:xfrm>
            <a:off x="1879600" y="4503209"/>
            <a:ext cx="7767797" cy="360627"/>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6F2"/>
                </a:solidFill>
                <a:latin typeface="IBM Plex Sans" pitchFamily="34" charset="0"/>
                <a:ea typeface="IBM Plex Sans" pitchFamily="34" charset="-122"/>
                <a:cs typeface="IBM Plex Sans" pitchFamily="34" charset="-120"/>
              </a:rPr>
              <a:t>Apakah gabungan keduanya meningkatkan deteksi?</a:t>
            </a:r>
            <a:endParaRPr lang="en-US" sz="2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4 · Deteksi anomali kepatuhan pada data PDDIKTI</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DATASET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Ekstrak data PDDIKTI</a:t>
            </a:r>
            <a:endParaRPr lang="en-US" sz="3600" dirty="0"/>
          </a:p>
        </p:txBody>
      </p:sp>
      <p:sp>
        <p:nvSpPr>
          <p:cNvPr id="4" name="Shape 2"/>
          <p:cNvSpPr/>
          <p:nvPr/>
        </p:nvSpPr>
        <p:spPr>
          <a:xfrm>
            <a:off x="812800" y="1998929"/>
            <a:ext cx="3318933" cy="0"/>
          </a:xfrm>
          <a:prstGeom prst="line">
            <a:avLst/>
          </a:prstGeom>
          <a:noFill/>
          <a:ln w="25400">
            <a:solidFill>
              <a:srgbClr val="B4501A"/>
            </a:solidFill>
            <a:prstDash val="solid"/>
          </a:ln>
        </p:spPr>
      </p:sp>
      <p:sp>
        <p:nvSpPr>
          <p:cNvPr id="5" name="Text 3"/>
          <p:cNvSpPr/>
          <p:nvPr/>
        </p:nvSpPr>
        <p:spPr>
          <a:xfrm>
            <a:off x="812800" y="2164029"/>
            <a:ext cx="341850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Source Serif 4" pitchFamily="18" charset="0"/>
                <a:ea typeface="Source Serif 4" pitchFamily="18" charset="-122"/>
                <a:cs typeface="Source Serif 4" pitchFamily="18" charset="-120"/>
              </a:rPr>
              <a:t>3.948</a:t>
            </a:r>
            <a:endParaRPr lang="en-US" sz="6000" dirty="0"/>
          </a:p>
        </p:txBody>
      </p:sp>
      <p:sp>
        <p:nvSpPr>
          <p:cNvPr id="6" name="Text 4"/>
          <p:cNvSpPr/>
          <p:nvPr/>
        </p:nvSpPr>
        <p:spPr>
          <a:xfrm>
            <a:off x="812800" y="3053029"/>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data mahasiswa per semester</a:t>
            </a:r>
            <a:endParaRPr lang="en-US" sz="1600" dirty="0"/>
          </a:p>
        </p:txBody>
      </p:sp>
      <p:sp>
        <p:nvSpPr>
          <p:cNvPr id="7" name="Shape 5"/>
          <p:cNvSpPr/>
          <p:nvPr/>
        </p:nvSpPr>
        <p:spPr>
          <a:xfrm>
            <a:off x="4436533" y="1998929"/>
            <a:ext cx="3318933" cy="0"/>
          </a:xfrm>
          <a:prstGeom prst="line">
            <a:avLst/>
          </a:prstGeom>
          <a:noFill/>
          <a:ln w="25400">
            <a:solidFill>
              <a:srgbClr val="B4501A"/>
            </a:solidFill>
            <a:prstDash val="solid"/>
          </a:ln>
        </p:spPr>
      </p:sp>
      <p:sp>
        <p:nvSpPr>
          <p:cNvPr id="8" name="Text 6"/>
          <p:cNvSpPr/>
          <p:nvPr/>
        </p:nvSpPr>
        <p:spPr>
          <a:xfrm>
            <a:off x="4436533" y="2164029"/>
            <a:ext cx="341850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Source Serif 4" pitchFamily="18" charset="0"/>
                <a:ea typeface="Source Serif 4" pitchFamily="18" charset="-122"/>
                <a:cs typeface="Source Serif 4" pitchFamily="18" charset="-120"/>
              </a:rPr>
              <a:t>348</a:t>
            </a:r>
            <a:endParaRPr lang="en-US" sz="6000" dirty="0"/>
          </a:p>
        </p:txBody>
      </p:sp>
      <p:sp>
        <p:nvSpPr>
          <p:cNvPr id="9" name="Text 7"/>
          <p:cNvSpPr/>
          <p:nvPr/>
        </p:nvSpPr>
        <p:spPr>
          <a:xfrm>
            <a:off x="4436533" y="3053029"/>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mata kuliah</a:t>
            </a:r>
            <a:endParaRPr lang="en-US" sz="1600" dirty="0"/>
          </a:p>
        </p:txBody>
      </p:sp>
      <p:sp>
        <p:nvSpPr>
          <p:cNvPr id="10" name="Shape 8"/>
          <p:cNvSpPr/>
          <p:nvPr/>
        </p:nvSpPr>
        <p:spPr>
          <a:xfrm>
            <a:off x="8060267" y="1998929"/>
            <a:ext cx="3318933" cy="0"/>
          </a:xfrm>
          <a:prstGeom prst="line">
            <a:avLst/>
          </a:prstGeom>
          <a:noFill/>
          <a:ln w="25400">
            <a:solidFill>
              <a:srgbClr val="B4501A"/>
            </a:solidFill>
            <a:prstDash val="solid"/>
          </a:ln>
        </p:spPr>
      </p:sp>
      <p:sp>
        <p:nvSpPr>
          <p:cNvPr id="11" name="Text 9"/>
          <p:cNvSpPr/>
          <p:nvPr/>
        </p:nvSpPr>
        <p:spPr>
          <a:xfrm>
            <a:off x="8060267" y="2164029"/>
            <a:ext cx="341850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4213D"/>
                </a:solidFill>
                <a:latin typeface="Source Serif 4" pitchFamily="18" charset="0"/>
                <a:ea typeface="Source Serif 4" pitchFamily="18" charset="-122"/>
                <a:cs typeface="Source Serif 4" pitchFamily="18" charset="-120"/>
              </a:rPr>
              <a:t>1.636</a:t>
            </a:r>
            <a:endParaRPr lang="en-US" sz="6000" dirty="0"/>
          </a:p>
        </p:txBody>
      </p:sp>
      <p:sp>
        <p:nvSpPr>
          <p:cNvPr id="12" name="Text 10"/>
          <p:cNvSpPr/>
          <p:nvPr/>
        </p:nvSpPr>
        <p:spPr>
          <a:xfrm>
            <a:off x="8060267" y="3053029"/>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aktivitas mengajar dosen</a:t>
            </a:r>
            <a:endParaRPr lang="en-US" sz="1600" dirty="0"/>
          </a:p>
        </p:txBody>
      </p:sp>
      <p:sp>
        <p:nvSpPr>
          <p:cNvPr id="13" name="Shape 11"/>
          <p:cNvSpPr/>
          <p:nvPr/>
        </p:nvSpPr>
        <p:spPr>
          <a:xfrm>
            <a:off x="812800" y="3648605"/>
            <a:ext cx="3318933" cy="0"/>
          </a:xfrm>
          <a:prstGeom prst="line">
            <a:avLst/>
          </a:prstGeom>
          <a:noFill/>
          <a:ln w="12700">
            <a:solidFill>
              <a:srgbClr val="C9C3B6"/>
            </a:solidFill>
            <a:prstDash val="solid"/>
          </a:ln>
        </p:spPr>
      </p:sp>
      <p:sp>
        <p:nvSpPr>
          <p:cNvPr id="14" name="Text 12"/>
          <p:cNvSpPr/>
          <p:nvPr/>
        </p:nvSpPr>
        <p:spPr>
          <a:xfrm>
            <a:off x="812800" y="3807355"/>
            <a:ext cx="3418501"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Source Serif 4" pitchFamily="18" charset="0"/>
                <a:ea typeface="Source Serif 4" pitchFamily="18" charset="-122"/>
                <a:cs typeface="Source Serif 4" pitchFamily="18" charset="-120"/>
              </a:rPr>
              <a:t>709</a:t>
            </a:r>
            <a:endParaRPr lang="en-US" sz="3600" dirty="0"/>
          </a:p>
        </p:txBody>
      </p:sp>
      <p:sp>
        <p:nvSpPr>
          <p:cNvPr id="15" name="Text 13"/>
          <p:cNvSpPr/>
          <p:nvPr/>
        </p:nvSpPr>
        <p:spPr>
          <a:xfrm>
            <a:off x="812800" y="4361061"/>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mahasiswa (711 pendaftaran)</a:t>
            </a:r>
            <a:endParaRPr lang="en-US" sz="1600" dirty="0"/>
          </a:p>
        </p:txBody>
      </p:sp>
      <p:sp>
        <p:nvSpPr>
          <p:cNvPr id="16" name="Shape 14"/>
          <p:cNvSpPr/>
          <p:nvPr/>
        </p:nvSpPr>
        <p:spPr>
          <a:xfrm>
            <a:off x="4436533" y="3648605"/>
            <a:ext cx="3318933" cy="0"/>
          </a:xfrm>
          <a:prstGeom prst="line">
            <a:avLst/>
          </a:prstGeom>
          <a:noFill/>
          <a:ln w="12700">
            <a:solidFill>
              <a:srgbClr val="C9C3B6"/>
            </a:solidFill>
            <a:prstDash val="solid"/>
          </a:ln>
        </p:spPr>
      </p:sp>
      <p:sp>
        <p:nvSpPr>
          <p:cNvPr id="17" name="Text 15"/>
          <p:cNvSpPr/>
          <p:nvPr/>
        </p:nvSpPr>
        <p:spPr>
          <a:xfrm>
            <a:off x="4436533" y="3807355"/>
            <a:ext cx="3418501"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Source Serif 4" pitchFamily="18" charset="0"/>
                <a:ea typeface="Source Serif 4" pitchFamily="18" charset="-122"/>
                <a:cs typeface="Source Serif 4" pitchFamily="18" charset="-120"/>
              </a:rPr>
              <a:t>3</a:t>
            </a:r>
            <a:endParaRPr lang="en-US" sz="3600" dirty="0"/>
          </a:p>
        </p:txBody>
      </p:sp>
      <p:sp>
        <p:nvSpPr>
          <p:cNvPr id="18" name="Text 16"/>
          <p:cNvSpPr/>
          <p:nvPr/>
        </p:nvSpPr>
        <p:spPr>
          <a:xfrm>
            <a:off x="4436533" y="4361061"/>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program studi</a:t>
            </a:r>
            <a:endParaRPr lang="en-US" sz="1600" dirty="0"/>
          </a:p>
        </p:txBody>
      </p:sp>
      <p:sp>
        <p:nvSpPr>
          <p:cNvPr id="19" name="Shape 17"/>
          <p:cNvSpPr/>
          <p:nvPr/>
        </p:nvSpPr>
        <p:spPr>
          <a:xfrm>
            <a:off x="8060267" y="3648605"/>
            <a:ext cx="3318933" cy="0"/>
          </a:xfrm>
          <a:prstGeom prst="line">
            <a:avLst/>
          </a:prstGeom>
          <a:noFill/>
          <a:ln w="12700">
            <a:solidFill>
              <a:srgbClr val="C9C3B6"/>
            </a:solidFill>
            <a:prstDash val="solid"/>
          </a:ln>
        </p:spPr>
      </p:sp>
      <p:sp>
        <p:nvSpPr>
          <p:cNvPr id="20" name="Text 18"/>
          <p:cNvSpPr/>
          <p:nvPr/>
        </p:nvSpPr>
        <p:spPr>
          <a:xfrm>
            <a:off x="8060267" y="3807355"/>
            <a:ext cx="3418501"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Source Serif 4" pitchFamily="18" charset="0"/>
                <a:ea typeface="Source Serif 4" pitchFamily="18" charset="-122"/>
                <a:cs typeface="Source Serif 4" pitchFamily="18" charset="-120"/>
              </a:rPr>
              <a:t>15</a:t>
            </a:r>
            <a:endParaRPr lang="en-US" sz="3600" dirty="0"/>
          </a:p>
        </p:txBody>
      </p:sp>
      <p:sp>
        <p:nvSpPr>
          <p:cNvPr id="21" name="Text 19"/>
          <p:cNvSpPr/>
          <p:nvPr/>
        </p:nvSpPr>
        <p:spPr>
          <a:xfrm>
            <a:off x="8060267" y="4361061"/>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semester, 2020/1 hingga 2026/1</a:t>
            </a:r>
            <a:endParaRPr lang="en-US" sz="1600" dirty="0"/>
          </a:p>
        </p:txBody>
      </p:sp>
      <p:sp>
        <p:nvSpPr>
          <p:cNvPr id="22" name="Text 20"/>
          <p:cNvSpPr/>
          <p:nvPr/>
        </p:nvSpPr>
        <p:spPr>
          <a:xfrm>
            <a:off x="812800" y="500109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Direplikasi dari web service Feeder PDDIKTI, satu tabel per entitas. Juga mencakup 1.607 kelas, 90 dosen, dan 2.880 data nilai transfer.</a:t>
            </a:r>
            <a:endParaRPr lang="en-US" sz="12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5 · Deteksi anomali kepatuhan pada data PDDIKTI</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27277"/>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4501A"/>
                </a:solidFill>
                <a:latin typeface="IBM Plex Sans" pitchFamily="34" charset="0"/>
                <a:ea typeface="IBM Plex Sans" pitchFamily="34" charset="-122"/>
                <a:cs typeface="IBM Plex Sans" pitchFamily="34" charset="-120"/>
              </a:rPr>
              <a:t>ATURAN KEPATUHAN</a:t>
            </a:r>
            <a:endParaRPr lang="en-US" sz="1159" dirty="0"/>
          </a:p>
        </p:txBody>
      </p:sp>
      <p:sp>
        <p:nvSpPr>
          <p:cNvPr id="3" name="Text 1"/>
          <p:cNvSpPr/>
          <p:nvPr>
            <p:ph type="title"/>
          </p:nvPr>
        </p:nvSpPr>
        <p:spPr>
          <a:xfrm>
            <a:off x="812800" y="1116279"/>
            <a:ext cx="10883392" cy="501253"/>
          </a:xfrm>
          <a:prstGeom prst="rect">
            <a:avLst/>
          </a:prstGeom>
          <a:noFill/>
          <a:ln/>
        </p:spPr>
        <p:txBody>
          <a:bodyPr wrap="square" lIns="0" tIns="0" rIns="0" bIns="0" rtlCol="0" anchor="t">
            <a:normAutofit/>
          </a:bodyPr>
          <a:lstStyle/>
          <a:p>
            <a:pPr algn="l" indent="0" marL="0">
              <a:lnSpc>
                <a:spcPts val="3774"/>
              </a:lnSpc>
              <a:buNone/>
            </a:pPr>
            <a:r>
              <a:rPr lang="en-US" sz="3431" b="1" i="0" dirty="0">
                <a:solidFill>
                  <a:srgbClr val="14213D"/>
                </a:solidFill>
                <a:latin typeface="Source Serif 4" pitchFamily="18" charset="0"/>
                <a:ea typeface="Source Serif 4" pitchFamily="18" charset="-122"/>
                <a:cs typeface="Source Serif 4" pitchFamily="18" charset="-120"/>
              </a:rPr>
              <a:t>Aturan validasi Feeder</a:t>
            </a:r>
            <a:endParaRPr lang="en-US" sz="3431"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09632"/>
          <a:ext cx="10553700" cy="3424238"/>
        </p:xfrm>
        <a:graphic>
          <a:graphicData uri="http://schemas.openxmlformats.org/drawingml/2006/table">
            <a:tbl>
              <a:tblPr/>
              <a:tblGrid>
                <a:gridCol w="2321814"/>
                <a:gridCol w="8231886"/>
              </a:tblGrid>
              <a:tr h="342371">
                <a:tc>
                  <a:txBody>
                    <a:bodyPr/>
                    <a:lstStyle/>
                    <a:p>
                      <a:pPr indent="0" marL="0">
                        <a:lnSpc>
                          <a:spcPts val="1729"/>
                        </a:lnSpc>
                        <a:buNone/>
                      </a:pPr>
                      <a:r>
                        <a:rPr lang="en-US" sz="1235" b="1" dirty="0">
                          <a:solidFill>
                            <a:srgbClr val="F7F6F2"/>
                          </a:solidFill>
                          <a:latin typeface="IBM Plex Sans" pitchFamily="34" charset="0"/>
                          <a:ea typeface="IBM Plex Sans" pitchFamily="34" charset="-122"/>
                          <a:cs typeface="IBM Plex Sans" pitchFamily="34" charset="-120"/>
                        </a:rPr>
                        <a:t>Entitas</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729"/>
                        </a:lnSpc>
                        <a:buNone/>
                      </a:pPr>
                      <a:r>
                        <a:rPr lang="en-US" sz="1235" b="1" dirty="0">
                          <a:solidFill>
                            <a:srgbClr val="F7F6F2"/>
                          </a:solidFill>
                          <a:latin typeface="IBM Plex Sans" pitchFamily="34" charset="0"/>
                          <a:ea typeface="IBM Plex Sans" pitchFamily="34" charset="-122"/>
                          <a:cs typeface="IBM Plex Sans" pitchFamily="34" charset="-120"/>
                        </a:rPr>
                        <a:t>Kondisi pelanggaran</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42371">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Mahasiswa</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Periode keluar sebelum periode masuk; tanggal masuk ≥ tanggal lulus; usia &lt; 10 tahun</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Mahasiswa</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SKS diakui tidak sesuai jenis pendaftaran (baru vs. pindahan/alih jenjang)</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Mahasiswa</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Data ganda berdasarkan nama, tanggal lahir, dan tempat lahir</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Aktivitas mahasiswa</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IPK &gt; 4,0 atau IPS &gt; 4,0; IPK = 0 sementara IPS &gt; 0</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Aktivitas mahasiswa</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Total SKS dan SKS semester sama-sama 0 padahal ada data perkuliahan</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Aktivitas mahasiswa</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Beban SKS semester &gt; 24</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Mata kuliah</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Jumlah komponen SKS ≠ SKS mata kuliah, komponen berjumlah 0, atau SKS &gt; 9</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Aktivitas dosen</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Realisasi pertemuan &gt; 18</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42437">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Periode kuliah</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729"/>
                        </a:lnSpc>
                        <a:buNone/>
                      </a:pPr>
                      <a:r>
                        <a:rPr lang="en-US" sz="1235" dirty="0">
                          <a:solidFill>
                            <a:srgbClr val="14213D"/>
                          </a:solidFill>
                          <a:latin typeface="IBM Plex Sans" pitchFamily="34" charset="0"/>
                          <a:ea typeface="IBM Plex Sans" pitchFamily="34" charset="-122"/>
                          <a:cs typeface="IBM Plex Sans" pitchFamily="34" charset="-120"/>
                        </a:rPr>
                        <a:t>Periode perkuliahan tumpang tindih dalam satu program studi</a:t>
                      </a:r>
                      <a:endParaRPr lang="en-US" sz="1235" dirty="0">
                        <a:latin typeface="IBM Plex Sans" charset="0"/>
                        <a:ea typeface="IBM Plex Sans" charset="0"/>
                        <a:cs typeface="IBM Plex Sans" charset="0"/>
                      </a:endParaRPr>
                    </a:p>
                  </a:txBody>
                  <a:tcPr marL="54896" marR="54896" marT="54896" marB="54896"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5638670"/>
            <a:ext cx="10883392" cy="22873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A5568"/>
                </a:solidFill>
                <a:latin typeface="IBM Plex Sans" pitchFamily="34" charset="0"/>
                <a:ea typeface="IBM Plex Sans" pitchFamily="34" charset="-122"/>
                <a:cs typeface="IBM Plex Sans" pitchFamily="34" charset="-120"/>
              </a:rPr>
              <a:t>Dikecualikan: pemeriksaan identitas ke DUKCAPIL, karena memerlukan sumber data eksternal.</a:t>
            </a:r>
            <a:endParaRPr lang="en-US" sz="1159"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6 · Deteksi anomali kepatuhan pada data PDDIKTI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METODOLOGI</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Pipeline deteksi tiga tahap</a:t>
            </a:r>
            <a:endParaRPr lang="en-US" sz="3600" dirty="0"/>
          </a:p>
        </p:txBody>
      </p:sp>
      <p:sp>
        <p:nvSpPr>
          <p:cNvPr id="4" name="Shape 2"/>
          <p:cNvSpPr/>
          <p:nvPr/>
        </p:nvSpPr>
        <p:spPr>
          <a:xfrm>
            <a:off x="819150" y="3086100"/>
            <a:ext cx="2273300" cy="1638300"/>
          </a:xfrm>
          <a:prstGeom prst="roundRect">
            <a:avLst>
              <a:gd name="adj" fmla="val 5814"/>
            </a:avLst>
          </a:prstGeom>
          <a:solidFill>
            <a:srgbClr val="FDFCFA"/>
          </a:solidFill>
          <a:ln w="12700">
            <a:solidFill>
              <a:srgbClr val="C9C3B6"/>
            </a:solidFill>
            <a:prstDash val="solid"/>
          </a:ln>
        </p:spPr>
      </p:sp>
      <p:sp>
        <p:nvSpPr>
          <p:cNvPr id="5" name="Text 3"/>
          <p:cNvSpPr/>
          <p:nvPr/>
        </p:nvSpPr>
        <p:spPr>
          <a:xfrm>
            <a:off x="1028700" y="3295650"/>
            <a:ext cx="190982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ource Serif 4" pitchFamily="18" charset="0"/>
                <a:ea typeface="Source Serif 4" pitchFamily="18" charset="-122"/>
                <a:cs typeface="Source Serif 4" pitchFamily="18" charset="-120"/>
              </a:rPr>
              <a:t>Tabel PDDIKTI</a:t>
            </a:r>
            <a:endParaRPr lang="en-US" sz="1600" dirty="0"/>
          </a:p>
        </p:txBody>
      </p:sp>
      <p:sp>
        <p:nvSpPr>
          <p:cNvPr id="6" name="Text 4"/>
          <p:cNvSpPr/>
          <p:nvPr/>
        </p:nvSpPr>
        <p:spPr>
          <a:xfrm>
            <a:off x="1028700" y="3615665"/>
            <a:ext cx="19098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Replika web service Feeder, satu tabel per entitas</a:t>
            </a:r>
            <a:endParaRPr lang="en-US" sz="1200" dirty="0"/>
          </a:p>
        </p:txBody>
      </p:sp>
      <p:sp>
        <p:nvSpPr>
          <p:cNvPr id="7" name="Shape 5"/>
          <p:cNvSpPr/>
          <p:nvPr/>
        </p:nvSpPr>
        <p:spPr>
          <a:xfrm>
            <a:off x="3870325" y="2041525"/>
            <a:ext cx="3282950" cy="1885950"/>
          </a:xfrm>
          <a:prstGeom prst="roundRect">
            <a:avLst>
              <a:gd name="adj" fmla="val 4882"/>
            </a:avLst>
          </a:prstGeom>
          <a:solidFill>
            <a:srgbClr val="FDFCFA"/>
          </a:solidFill>
          <a:ln w="19050">
            <a:solidFill>
              <a:srgbClr val="B4501A"/>
            </a:solidFill>
            <a:prstDash val="solid"/>
          </a:ln>
        </p:spPr>
      </p:sp>
      <p:sp>
        <p:nvSpPr>
          <p:cNvPr id="8" name="Text 6"/>
          <p:cNvSpPr/>
          <p:nvPr/>
        </p:nvSpPr>
        <p:spPr>
          <a:xfrm>
            <a:off x="4080933" y="2252135"/>
            <a:ext cx="294758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ource Serif 4" pitchFamily="18" charset="0"/>
                <a:ea typeface="Source Serif 4" pitchFamily="18" charset="-122"/>
                <a:cs typeface="Source Serif 4" pitchFamily="18" charset="-120"/>
              </a:rPr>
              <a:t>1 · Deteksi berbasis aturan</a:t>
            </a:r>
            <a:endParaRPr lang="en-US" sz="1600" dirty="0"/>
          </a:p>
        </p:txBody>
      </p:sp>
      <p:sp>
        <p:nvSpPr>
          <p:cNvPr id="9" name="Text 7"/>
          <p:cNvSpPr/>
          <p:nvPr/>
        </p:nvSpPr>
        <p:spPr>
          <a:xfrm>
            <a:off x="4080933" y="2572147"/>
            <a:ext cx="294758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Satu predikat per aturan; data ditandai jika ada aturan yang terpenuhi, dan aturan yang dilanggar disimpan sebagai penjelasan</a:t>
            </a:r>
            <a:endParaRPr lang="en-US" sz="1200" dirty="0"/>
          </a:p>
        </p:txBody>
      </p:sp>
      <p:sp>
        <p:nvSpPr>
          <p:cNvPr id="10" name="Shape 8"/>
          <p:cNvSpPr/>
          <p:nvPr/>
        </p:nvSpPr>
        <p:spPr>
          <a:xfrm>
            <a:off x="3870325" y="4137025"/>
            <a:ext cx="3282950" cy="1568450"/>
          </a:xfrm>
          <a:prstGeom prst="roundRect">
            <a:avLst>
              <a:gd name="adj" fmla="val 5870"/>
            </a:avLst>
          </a:prstGeom>
          <a:solidFill>
            <a:srgbClr val="FDFCFA"/>
          </a:solidFill>
          <a:ln w="19050">
            <a:solidFill>
              <a:srgbClr val="2B5C9E"/>
            </a:solidFill>
            <a:prstDash val="solid"/>
          </a:ln>
        </p:spPr>
      </p:sp>
      <p:sp>
        <p:nvSpPr>
          <p:cNvPr id="11" name="Text 9"/>
          <p:cNvSpPr/>
          <p:nvPr/>
        </p:nvSpPr>
        <p:spPr>
          <a:xfrm>
            <a:off x="4080933" y="4347635"/>
            <a:ext cx="294758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ource Serif 4" pitchFamily="18" charset="0"/>
                <a:ea typeface="Source Serif 4" pitchFamily="18" charset="-122"/>
                <a:cs typeface="Source Serif 4" pitchFamily="18" charset="-120"/>
              </a:rPr>
              <a:t>2 · Deteksi outlier ML</a:t>
            </a:r>
            <a:endParaRPr lang="en-US" sz="1600" dirty="0"/>
          </a:p>
        </p:txBody>
      </p:sp>
      <p:sp>
        <p:nvSpPr>
          <p:cNvPr id="12" name="Text 10"/>
          <p:cNvSpPr/>
          <p:nvPr/>
        </p:nvSpPr>
        <p:spPr>
          <a:xfrm>
            <a:off x="4080933" y="4667647"/>
            <a:ext cx="294758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Fitur terstandardisasi per entitas, diberi skor oleh Isolation Forest, LOF, dan autoencoder</a:t>
            </a:r>
            <a:endParaRPr lang="en-US" sz="1200" dirty="0"/>
          </a:p>
        </p:txBody>
      </p:sp>
      <p:sp>
        <p:nvSpPr>
          <p:cNvPr id="13" name="Shape 11"/>
          <p:cNvSpPr/>
          <p:nvPr/>
        </p:nvSpPr>
        <p:spPr>
          <a:xfrm>
            <a:off x="7924800" y="3016250"/>
            <a:ext cx="3454400" cy="1778000"/>
          </a:xfrm>
          <a:prstGeom prst="roundRect">
            <a:avLst>
              <a:gd name="adj" fmla="val 5714"/>
            </a:avLst>
          </a:prstGeom>
          <a:solidFill>
            <a:srgbClr val="14213D"/>
          </a:solidFill>
          <a:ln/>
        </p:spPr>
      </p:sp>
      <p:sp>
        <p:nvSpPr>
          <p:cNvPr id="14" name="Text 12"/>
          <p:cNvSpPr/>
          <p:nvPr/>
        </p:nvSpPr>
        <p:spPr>
          <a:xfrm>
            <a:off x="8128000" y="3219450"/>
            <a:ext cx="31394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Source Serif 4" pitchFamily="18" charset="0"/>
                <a:ea typeface="Source Serif 4" pitchFamily="18" charset="-122"/>
                <a:cs typeface="Source Serif 4" pitchFamily="18" charset="-120"/>
              </a:rPr>
              <a:t>3 · Gabung dan evaluasi</a:t>
            </a:r>
            <a:endParaRPr lang="en-US" sz="1600" dirty="0"/>
          </a:p>
        </p:txBody>
      </p:sp>
      <p:sp>
        <p:nvSpPr>
          <p:cNvPr id="15" name="Text 13"/>
          <p:cNvSpPr/>
          <p:nvPr/>
        </p:nvSpPr>
        <p:spPr>
          <a:xfrm>
            <a:off x="8128000" y="3539465"/>
            <a:ext cx="31394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Temuan aturan diurutkan pertama, lalu rata-rata peringkat persentil skor ML; diuji pada anomali injeksi dengan 10 seed</a:t>
            </a:r>
            <a:endParaRPr lang="en-US" sz="1200" dirty="0"/>
          </a:p>
        </p:txBody>
      </p:sp>
      <p:pic>
        <p:nvPicPr>
          <p:cNvPr id="16" name="Image 0" descr="connector">    </p:cNvPr>
          <p:cNvPicPr>
            <a:picLocks noChangeAspect="1"/>
          </p:cNvPicPr>
          <p:nvPr/>
        </p:nvPicPr>
        <p:blipFill>
          <a:blip r:embed="rId1"/>
          <a:srcRect l="0" r="0" t="0" b="0"/>
          <a:stretch/>
        </p:blipFill>
        <p:spPr>
          <a:xfrm>
            <a:off x="3048000" y="2933700"/>
            <a:ext cx="863600" cy="1022350"/>
          </a:xfrm>
          <a:prstGeom prst="rect">
            <a:avLst/>
          </a:prstGeom>
        </p:spPr>
      </p:pic>
      <p:pic>
        <p:nvPicPr>
          <p:cNvPr id="17" name="Image 1" descr="connector">    </p:cNvPr>
          <p:cNvPicPr>
            <a:picLocks noChangeAspect="1"/>
          </p:cNvPicPr>
          <p:nvPr/>
        </p:nvPicPr>
        <p:blipFill>
          <a:blip r:embed="rId2"/>
          <a:srcRect l="0" r="0" t="0" b="0"/>
          <a:stretch/>
        </p:blipFill>
        <p:spPr>
          <a:xfrm>
            <a:off x="3048000" y="3854450"/>
            <a:ext cx="863600" cy="1117600"/>
          </a:xfrm>
          <a:prstGeom prst="rect">
            <a:avLst/>
          </a:prstGeom>
        </p:spPr>
      </p:pic>
      <p:pic>
        <p:nvPicPr>
          <p:cNvPr id="18" name="Image 2" descr="connector">    </p:cNvPr>
          <p:cNvPicPr>
            <a:picLocks noChangeAspect="1"/>
          </p:cNvPicPr>
          <p:nvPr/>
        </p:nvPicPr>
        <p:blipFill>
          <a:blip r:embed="rId3"/>
          <a:srcRect l="0" r="0" t="0" b="0"/>
          <a:stretch/>
        </p:blipFill>
        <p:spPr>
          <a:xfrm>
            <a:off x="7112000" y="2933700"/>
            <a:ext cx="863600" cy="1022350"/>
          </a:xfrm>
          <a:prstGeom prst="rect">
            <a:avLst/>
          </a:prstGeom>
        </p:spPr>
      </p:pic>
      <p:pic>
        <p:nvPicPr>
          <p:cNvPr id="19" name="Image 3" descr="connector">    </p:cNvPr>
          <p:cNvPicPr>
            <a:picLocks noChangeAspect="1"/>
          </p:cNvPicPr>
          <p:nvPr/>
        </p:nvPicPr>
        <p:blipFill>
          <a:blip r:embed="rId4"/>
          <a:srcRect l="0" r="0" t="0" b="0"/>
          <a:stretch/>
        </p:blipFill>
        <p:spPr>
          <a:xfrm>
            <a:off x="7112000" y="3854450"/>
            <a:ext cx="863600" cy="1117600"/>
          </a:xfrm>
          <a:prstGeom prst="rect">
            <a:avLst/>
          </a:prstGeom>
        </p:spPr>
      </p:pic>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 · Deteksi anomali kepatuhan pada data PDDIKTI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B5C9E"/>
                </a:solidFill>
                <a:latin typeface="IBM Plex Sans" pitchFamily="34" charset="0"/>
                <a:ea typeface="IBM Plex Sans" pitchFamily="34" charset="-122"/>
                <a:cs typeface="IBM Plex Sans" pitchFamily="34" charset="-120"/>
              </a:rPr>
              <a:t>MACHINE LEARNING</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Tiga detektor unsupervised</a:t>
            </a:r>
            <a:endParaRPr lang="en-US" sz="3600" dirty="0"/>
          </a:p>
        </p:txBody>
      </p:sp>
      <p:sp>
        <p:nvSpPr>
          <p:cNvPr id="4" name="Shape 2"/>
          <p:cNvSpPr/>
          <p:nvPr/>
        </p:nvSpPr>
        <p:spPr>
          <a:xfrm>
            <a:off x="819150" y="1941779"/>
            <a:ext cx="3373967" cy="2339049"/>
          </a:xfrm>
          <a:prstGeom prst="roundRect">
            <a:avLst>
              <a:gd name="adj" fmla="val 4072"/>
            </a:avLst>
          </a:prstGeom>
          <a:solidFill>
            <a:srgbClr val="FDFCFA"/>
          </a:solidFill>
          <a:ln w="12700">
            <a:solidFill>
              <a:srgbClr val="E2DED5"/>
            </a:solidFill>
            <a:prstDash val="solid"/>
          </a:ln>
        </p:spPr>
      </p:sp>
      <p:sp>
        <p:nvSpPr>
          <p:cNvPr id="5" name="Text 3"/>
          <p:cNvSpPr/>
          <p:nvPr/>
        </p:nvSpPr>
        <p:spPr>
          <a:xfrm>
            <a:off x="1079500" y="2202129"/>
            <a:ext cx="293886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Isolation Forest</a:t>
            </a:r>
            <a:endParaRPr lang="en-US" sz="2200" dirty="0"/>
          </a:p>
        </p:txBody>
      </p:sp>
      <p:sp>
        <p:nvSpPr>
          <p:cNvPr id="6" name="Text 4"/>
          <p:cNvSpPr/>
          <p:nvPr/>
        </p:nvSpPr>
        <p:spPr>
          <a:xfrm>
            <a:off x="1079500" y="2638955"/>
            <a:ext cx="2938865"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Pemisahan acak mengisolasi data; jalur pendek berarti anomali</a:t>
            </a:r>
            <a:endParaRPr lang="en-US" sz="1600" dirty="0"/>
          </a:p>
        </p:txBody>
      </p:sp>
      <p:sp>
        <p:nvSpPr>
          <p:cNvPr id="7" name="Text 5"/>
          <p:cNvSpPr/>
          <p:nvPr/>
        </p:nvSpPr>
        <p:spPr>
          <a:xfrm>
            <a:off x="1079500" y="3593836"/>
            <a:ext cx="29388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9E"/>
                </a:solidFill>
                <a:latin typeface="IBM Plex Sans" pitchFamily="34" charset="0"/>
                <a:ea typeface="IBM Plex Sans" pitchFamily="34" charset="-122"/>
                <a:cs typeface="IBM Plex Sans" pitchFamily="34" charset="-120"/>
              </a:rPr>
              <a:t>200 pohon</a:t>
            </a:r>
            <a:endParaRPr lang="en-US" sz="1200" dirty="0"/>
          </a:p>
        </p:txBody>
      </p:sp>
      <p:sp>
        <p:nvSpPr>
          <p:cNvPr id="8" name="Shape 6"/>
          <p:cNvSpPr/>
          <p:nvPr/>
        </p:nvSpPr>
        <p:spPr>
          <a:xfrm>
            <a:off x="4409017" y="1941779"/>
            <a:ext cx="3373967" cy="2339049"/>
          </a:xfrm>
          <a:prstGeom prst="roundRect">
            <a:avLst>
              <a:gd name="adj" fmla="val 4072"/>
            </a:avLst>
          </a:prstGeom>
          <a:solidFill>
            <a:srgbClr val="FDFCFA"/>
          </a:solidFill>
          <a:ln w="12700">
            <a:solidFill>
              <a:srgbClr val="E2DED5"/>
            </a:solidFill>
            <a:prstDash val="solid"/>
          </a:ln>
        </p:spPr>
      </p:sp>
      <p:sp>
        <p:nvSpPr>
          <p:cNvPr id="9" name="Text 7"/>
          <p:cNvSpPr/>
          <p:nvPr/>
        </p:nvSpPr>
        <p:spPr>
          <a:xfrm>
            <a:off x="4669367" y="2202129"/>
            <a:ext cx="293886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Local Outlier Factor</a:t>
            </a:r>
            <a:endParaRPr lang="en-US" sz="2200" dirty="0"/>
          </a:p>
        </p:txBody>
      </p:sp>
      <p:sp>
        <p:nvSpPr>
          <p:cNvPr id="10" name="Text 8"/>
          <p:cNvSpPr/>
          <p:nvPr/>
        </p:nvSpPr>
        <p:spPr>
          <a:xfrm>
            <a:off x="4669367" y="2638955"/>
            <a:ext cx="2938865"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Membandingkan kepadatan lokal data dengan tetangganya</a:t>
            </a:r>
            <a:endParaRPr lang="en-US" sz="1600" dirty="0"/>
          </a:p>
        </p:txBody>
      </p:sp>
      <p:sp>
        <p:nvSpPr>
          <p:cNvPr id="11" name="Text 9"/>
          <p:cNvSpPr/>
          <p:nvPr/>
        </p:nvSpPr>
        <p:spPr>
          <a:xfrm>
            <a:off x="4669367" y="3309410"/>
            <a:ext cx="29388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9E"/>
                </a:solidFill>
                <a:latin typeface="IBM Plex Sans" pitchFamily="34" charset="0"/>
                <a:ea typeface="IBM Plex Sans" pitchFamily="34" charset="-122"/>
                <a:cs typeface="IBM Plex Sans" pitchFamily="34" charset="-120"/>
              </a:rPr>
              <a:t>k = 20 tetangga</a:t>
            </a:r>
            <a:endParaRPr lang="en-US" sz="1200" dirty="0"/>
          </a:p>
        </p:txBody>
      </p:sp>
      <p:sp>
        <p:nvSpPr>
          <p:cNvPr id="12" name="Shape 10"/>
          <p:cNvSpPr/>
          <p:nvPr/>
        </p:nvSpPr>
        <p:spPr>
          <a:xfrm>
            <a:off x="7998884" y="1941779"/>
            <a:ext cx="3373967" cy="2339049"/>
          </a:xfrm>
          <a:prstGeom prst="roundRect">
            <a:avLst>
              <a:gd name="adj" fmla="val 4072"/>
            </a:avLst>
          </a:prstGeom>
          <a:solidFill>
            <a:srgbClr val="FDFCFA"/>
          </a:solidFill>
          <a:ln w="12700">
            <a:solidFill>
              <a:srgbClr val="E2DED5"/>
            </a:solidFill>
            <a:prstDash val="solid"/>
          </a:ln>
        </p:spPr>
      </p:sp>
      <p:sp>
        <p:nvSpPr>
          <p:cNvPr id="13" name="Text 11"/>
          <p:cNvSpPr/>
          <p:nvPr/>
        </p:nvSpPr>
        <p:spPr>
          <a:xfrm>
            <a:off x="8259234" y="2202129"/>
            <a:ext cx="293886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Autoencoder</a:t>
            </a:r>
            <a:endParaRPr lang="en-US" sz="2200" dirty="0"/>
          </a:p>
        </p:txBody>
      </p:sp>
      <p:sp>
        <p:nvSpPr>
          <p:cNvPr id="14" name="Text 12"/>
          <p:cNvSpPr/>
          <p:nvPr/>
        </p:nvSpPr>
        <p:spPr>
          <a:xfrm>
            <a:off x="8259234" y="2638955"/>
            <a:ext cx="2938865"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Jaringan dense merekonstruksi data normal; galatnya menjadi skor</a:t>
            </a:r>
            <a:endParaRPr lang="en-US" sz="1600" dirty="0"/>
          </a:p>
        </p:txBody>
      </p:sp>
      <p:sp>
        <p:nvSpPr>
          <p:cNvPr id="15" name="Text 13"/>
          <p:cNvSpPr/>
          <p:nvPr/>
        </p:nvSpPr>
        <p:spPr>
          <a:xfrm>
            <a:off x="8259234" y="3593836"/>
            <a:ext cx="2938865"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9E"/>
                </a:solidFill>
                <a:latin typeface="IBM Plex Sans" pitchFamily="34" charset="0"/>
                <a:ea typeface="IBM Plex Sans" pitchFamily="34" charset="-122"/>
                <a:cs typeface="IBM Plex Sans" pitchFamily="34" charset="-120"/>
              </a:rPr>
              <a:t>Lapisan tersembunyi 2d, ⌊d/2⌋+1, 2d · maks. 400 iterasi</a:t>
            </a:r>
            <a:endParaRPr lang="en-US" sz="1200" dirty="0"/>
          </a:p>
        </p:txBody>
      </p:sp>
      <p:sp>
        <p:nvSpPr>
          <p:cNvPr id="16" name="Shape 14"/>
          <p:cNvSpPr/>
          <p:nvPr/>
        </p:nvSpPr>
        <p:spPr>
          <a:xfrm>
            <a:off x="812800" y="4598330"/>
            <a:ext cx="10566400" cy="0"/>
          </a:xfrm>
          <a:prstGeom prst="line">
            <a:avLst/>
          </a:prstGeom>
          <a:noFill/>
          <a:ln w="12700">
            <a:solidFill>
              <a:srgbClr val="C9C3B6"/>
            </a:solidFill>
            <a:prstDash val="solid"/>
          </a:ln>
        </p:spPr>
      </p:sp>
      <p:sp>
        <p:nvSpPr>
          <p:cNvPr id="17" name="Text 15"/>
          <p:cNvSpPr/>
          <p:nvPr/>
        </p:nvSpPr>
        <p:spPr>
          <a:xfrm>
            <a:off x="812800" y="4757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IBM Plex Sans" pitchFamily="34" charset="0"/>
                <a:ea typeface="IBM Plex Sans" pitchFamily="34" charset="-122"/>
                <a:cs typeface="IBM Plex Sans" pitchFamily="34" charset="-120"/>
              </a:rPr>
              <a:t>FITUR, DISTANDARDISASI DAN DILATIH PER ENTITAS</a:t>
            </a:r>
            <a:endParaRPr lang="en-US" sz="1200" dirty="0"/>
          </a:p>
        </p:txBody>
      </p:sp>
      <p:sp>
        <p:nvSpPr>
          <p:cNvPr id="18" name="Text 16"/>
          <p:cNvSpPr/>
          <p:nvPr/>
        </p:nvSpPr>
        <p:spPr>
          <a:xfrm>
            <a:off x="812800" y="5072000"/>
            <a:ext cx="3488267"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4A5C"/>
                </a:solidFill>
                <a:latin typeface="IBM Plex Sans" pitchFamily="34" charset="0"/>
                <a:ea typeface="IBM Plex Sans" pitchFamily="34" charset="-122"/>
                <a:cs typeface="IBM Plex Sans" pitchFamily="34" charset="-120"/>
              </a:rPr>
              <a:t>Mahasiswa-semester:</a:t>
            </a:r>
            <a:r>
              <a:rPr lang="en-US" sz="1200" dirty="0">
                <a:solidFill>
                  <a:srgbClr val="3F4A5C"/>
                </a:solidFill>
                <a:latin typeface="IBM Plex Sans" pitchFamily="34" charset="0"/>
                <a:ea typeface="IBM Plex Sans" pitchFamily="34" charset="-122"/>
                <a:cs typeface="IBM Plex Sans" pitchFamily="34" charset="-120"/>
              </a:rPr>
              <a:t> IPS, IPK, SKS semester dan total SKS, status aktif</a:t>
            </a:r>
            <a:endParaRPr lang="en-US" sz="1200" dirty="0"/>
          </a:p>
        </p:txBody>
      </p:sp>
      <p:sp>
        <p:nvSpPr>
          <p:cNvPr id="19" name="Text 17"/>
          <p:cNvSpPr/>
          <p:nvPr/>
        </p:nvSpPr>
        <p:spPr>
          <a:xfrm>
            <a:off x="4402667" y="5072000"/>
            <a:ext cx="3488267"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4A5C"/>
                </a:solidFill>
                <a:latin typeface="IBM Plex Sans" pitchFamily="34" charset="0"/>
                <a:ea typeface="IBM Plex Sans" pitchFamily="34" charset="-122"/>
                <a:cs typeface="IBM Plex Sans" pitchFamily="34" charset="-120"/>
              </a:rPr>
              <a:t>Mata kuliah:</a:t>
            </a:r>
            <a:r>
              <a:rPr lang="en-US" sz="1200" dirty="0">
                <a:solidFill>
                  <a:srgbClr val="3F4A5C"/>
                </a:solidFill>
                <a:latin typeface="IBM Plex Sans" pitchFamily="34" charset="0"/>
                <a:ea typeface="IBM Plex Sans" pitchFamily="34" charset="-122"/>
                <a:cs typeface="IBM Plex Sans" pitchFamily="34" charset="-120"/>
              </a:rPr>
              <a:t> total SKS, empat komponen SKS, selisih total dan jumlah komponen</a:t>
            </a:r>
            <a:endParaRPr lang="en-US" sz="1200" dirty="0"/>
          </a:p>
        </p:txBody>
      </p:sp>
      <p:sp>
        <p:nvSpPr>
          <p:cNvPr id="20" name="Text 18"/>
          <p:cNvSpPr/>
          <p:nvPr/>
        </p:nvSpPr>
        <p:spPr>
          <a:xfrm>
            <a:off x="7992534" y="5072000"/>
            <a:ext cx="3488267"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4A5C"/>
                </a:solidFill>
                <a:latin typeface="IBM Plex Sans" pitchFamily="34" charset="0"/>
                <a:ea typeface="IBM Plex Sans" pitchFamily="34" charset="-122"/>
                <a:cs typeface="IBM Plex Sans" pitchFamily="34" charset="-120"/>
              </a:rPr>
              <a:t>Pengajaran:</a:t>
            </a:r>
            <a:r>
              <a:rPr lang="en-US" sz="1200" dirty="0">
                <a:solidFill>
                  <a:srgbClr val="3F4A5C"/>
                </a:solidFill>
                <a:latin typeface="IBM Plex Sans" pitchFamily="34" charset="0"/>
                <a:ea typeface="IBM Plex Sans" pitchFamily="34" charset="-122"/>
                <a:cs typeface="IBM Plex Sans" pitchFamily="34" charset="-120"/>
              </a:rPr>
              <a:t> pertemuan rencana, pertemuan realisasi, dan rasionya</a:t>
            </a:r>
            <a:endParaRPr lang="en-US" sz="12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 · Deteksi anomali kepatuhan pada data PDDIKTI</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PROTOKOL EVALUASI</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Ground truth dari injeksi anomali</a:t>
            </a:r>
            <a:endParaRPr lang="en-US" sz="3600" dirty="0"/>
          </a:p>
        </p:txBody>
      </p:sp>
      <p:sp>
        <p:nvSpPr>
          <p:cNvPr id="4" name="Shape 2"/>
          <p:cNvSpPr/>
          <p:nvPr/>
        </p:nvSpPr>
        <p:spPr>
          <a:xfrm>
            <a:off x="819150" y="1941779"/>
            <a:ext cx="5168900" cy="1937808"/>
          </a:xfrm>
          <a:prstGeom prst="roundRect">
            <a:avLst>
              <a:gd name="adj" fmla="val 4915"/>
            </a:avLst>
          </a:prstGeom>
          <a:solidFill>
            <a:srgbClr val="FDFCFA"/>
          </a:solidFill>
          <a:ln w="12700">
            <a:solidFill>
              <a:srgbClr val="E2DED5"/>
            </a:solidFill>
            <a:prstDash val="solid"/>
          </a:ln>
        </p:spPr>
      </p:sp>
      <p:sp>
        <p:nvSpPr>
          <p:cNvPr id="5" name="Text 3"/>
          <p:cNvSpPr/>
          <p:nvPr/>
        </p:nvSpPr>
        <p:spPr>
          <a:xfrm>
            <a:off x="1130300" y="2252929"/>
            <a:ext cx="468299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Anomali berbasis aturan</a:t>
            </a:r>
            <a:endParaRPr lang="en-US" sz="2200" dirty="0"/>
          </a:p>
        </p:txBody>
      </p:sp>
      <p:sp>
        <p:nvSpPr>
          <p:cNvPr id="6" name="Text 4"/>
          <p:cNvSpPr/>
          <p:nvPr/>
        </p:nvSpPr>
        <p:spPr>
          <a:xfrm>
            <a:off x="1130300" y="2715158"/>
            <a:ext cx="4682998"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Melanggar satu aturan, misalnya IPK di atas 4,0, SKS semester di atas 24, periode keluar sebelum masuk</a:t>
            </a:r>
            <a:endParaRPr lang="en-US" sz="1600" dirty="0"/>
          </a:p>
        </p:txBody>
      </p:sp>
      <p:sp>
        <p:nvSpPr>
          <p:cNvPr id="7" name="Shape 5"/>
          <p:cNvSpPr/>
          <p:nvPr/>
        </p:nvSpPr>
        <p:spPr>
          <a:xfrm>
            <a:off x="6203950" y="1941779"/>
            <a:ext cx="5168900" cy="1937808"/>
          </a:xfrm>
          <a:prstGeom prst="roundRect">
            <a:avLst>
              <a:gd name="adj" fmla="val 4915"/>
            </a:avLst>
          </a:prstGeom>
          <a:solidFill>
            <a:srgbClr val="FDFCFA"/>
          </a:solidFill>
          <a:ln w="12700">
            <a:solidFill>
              <a:srgbClr val="E2DED5"/>
            </a:solidFill>
            <a:prstDash val="solid"/>
          </a:ln>
        </p:spPr>
      </p:sp>
      <p:sp>
        <p:nvSpPr>
          <p:cNvPr id="8" name="Text 6"/>
          <p:cNvSpPr/>
          <p:nvPr/>
        </p:nvSpPr>
        <p:spPr>
          <a:xfrm>
            <a:off x="6515100" y="2252929"/>
            <a:ext cx="468299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Anomali halus (subtle)</a:t>
            </a:r>
            <a:endParaRPr lang="en-US" sz="2200" dirty="0"/>
          </a:p>
        </p:txBody>
      </p:sp>
      <p:sp>
        <p:nvSpPr>
          <p:cNvPr id="9" name="Text 7"/>
          <p:cNvSpPr/>
          <p:nvPr/>
        </p:nvSpPr>
        <p:spPr>
          <a:xfrm>
            <a:off x="6515100" y="2715158"/>
            <a:ext cx="4682998"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A5C"/>
                </a:solidFill>
                <a:latin typeface="IBM Plex Sans" pitchFamily="34" charset="0"/>
                <a:ea typeface="IBM Plex Sans" pitchFamily="34" charset="-122"/>
                <a:cs typeface="IBM Plex Sans" pitchFamily="34" charset="-120"/>
              </a:rPr>
              <a:t>Lolos semua ambang aturan tetapi menyimpang dalam kombinasi, misalnya beban SKS tinggi dengan IPK sangat rendah</a:t>
            </a:r>
            <a:endParaRPr lang="en-US" sz="1600" dirty="0"/>
          </a:p>
        </p:txBody>
      </p:sp>
      <p:sp>
        <p:nvSpPr>
          <p:cNvPr id="10" name="Shape 8"/>
          <p:cNvSpPr/>
          <p:nvPr/>
        </p:nvSpPr>
        <p:spPr>
          <a:xfrm>
            <a:off x="812800" y="4203440"/>
            <a:ext cx="2928475" cy="0"/>
          </a:xfrm>
          <a:prstGeom prst="line">
            <a:avLst/>
          </a:prstGeom>
          <a:noFill/>
          <a:ln w="25400">
            <a:solidFill>
              <a:srgbClr val="14213D"/>
            </a:solidFill>
            <a:prstDash val="solid"/>
          </a:ln>
        </p:spPr>
      </p:sp>
      <p:sp>
        <p:nvSpPr>
          <p:cNvPr id="11" name="Text 9"/>
          <p:cNvSpPr/>
          <p:nvPr/>
        </p:nvSpPr>
        <p:spPr>
          <a:xfrm>
            <a:off x="812800" y="4368540"/>
            <a:ext cx="301632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Source Serif 4" pitchFamily="18" charset="0"/>
                <a:ea typeface="Source Serif 4" pitchFamily="18" charset="-122"/>
                <a:cs typeface="Source Serif 4" pitchFamily="18" charset="-120"/>
              </a:rPr>
              <a:t>5%</a:t>
            </a:r>
            <a:endParaRPr lang="en-US" sz="3600" dirty="0"/>
          </a:p>
        </p:txBody>
      </p:sp>
      <p:sp>
        <p:nvSpPr>
          <p:cNvPr id="12" name="Text 10"/>
          <p:cNvSpPr/>
          <p:nvPr/>
        </p:nvSpPr>
        <p:spPr>
          <a:xfrm>
            <a:off x="812800" y="4922242"/>
            <a:ext cx="301632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data tiap entitas diinjeksi, dibagi rata ke setiap jenis</a:t>
            </a:r>
            <a:endParaRPr lang="en-US" sz="1200" dirty="0"/>
          </a:p>
        </p:txBody>
      </p:sp>
      <p:sp>
        <p:nvSpPr>
          <p:cNvPr id="13" name="Shape 11"/>
          <p:cNvSpPr/>
          <p:nvPr/>
        </p:nvSpPr>
        <p:spPr>
          <a:xfrm>
            <a:off x="4046075" y="4203440"/>
            <a:ext cx="2928475" cy="0"/>
          </a:xfrm>
          <a:prstGeom prst="line">
            <a:avLst/>
          </a:prstGeom>
          <a:noFill/>
          <a:ln w="25400">
            <a:solidFill>
              <a:srgbClr val="14213D"/>
            </a:solidFill>
            <a:prstDash val="solid"/>
          </a:ln>
        </p:spPr>
      </p:sp>
      <p:sp>
        <p:nvSpPr>
          <p:cNvPr id="14" name="Text 12"/>
          <p:cNvSpPr/>
          <p:nvPr/>
        </p:nvSpPr>
        <p:spPr>
          <a:xfrm>
            <a:off x="4046075" y="4368540"/>
            <a:ext cx="301632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Source Serif 4" pitchFamily="18" charset="0"/>
                <a:ea typeface="Source Serif 4" pitchFamily="18" charset="-122"/>
                <a:cs typeface="Source Serif 4" pitchFamily="18" charset="-120"/>
              </a:rPr>
              <a:t>10</a:t>
            </a:r>
            <a:endParaRPr lang="en-US" sz="3600" dirty="0"/>
          </a:p>
        </p:txBody>
      </p:sp>
      <p:sp>
        <p:nvSpPr>
          <p:cNvPr id="15" name="Text 13"/>
          <p:cNvSpPr/>
          <p:nvPr/>
        </p:nvSpPr>
        <p:spPr>
          <a:xfrm>
            <a:off x="4046075" y="4922242"/>
            <a:ext cx="301632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random seed; hasil berupa rata-rata ± simpangan baku</a:t>
            </a:r>
            <a:endParaRPr lang="en-US" sz="1200" dirty="0"/>
          </a:p>
        </p:txBody>
      </p:sp>
      <p:sp>
        <p:nvSpPr>
          <p:cNvPr id="16" name="Shape 14"/>
          <p:cNvSpPr/>
          <p:nvPr/>
        </p:nvSpPr>
        <p:spPr>
          <a:xfrm>
            <a:off x="7279349" y="4203440"/>
            <a:ext cx="4099851" cy="0"/>
          </a:xfrm>
          <a:prstGeom prst="line">
            <a:avLst/>
          </a:prstGeom>
          <a:noFill/>
          <a:ln w="25400">
            <a:solidFill>
              <a:srgbClr val="14213D"/>
            </a:solidFill>
            <a:prstDash val="solid"/>
          </a:ln>
        </p:spPr>
      </p:sp>
      <p:sp>
        <p:nvSpPr>
          <p:cNvPr id="17" name="Text 15"/>
          <p:cNvSpPr/>
          <p:nvPr/>
        </p:nvSpPr>
        <p:spPr>
          <a:xfrm>
            <a:off x="7279349" y="4368540"/>
            <a:ext cx="422284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IBM Plex Sans" pitchFamily="34" charset="0"/>
                <a:ea typeface="IBM Plex Sans" pitchFamily="34" charset="-122"/>
                <a:cs typeface="IBM Plex Sans" pitchFamily="34" charset="-120"/>
              </a:rPr>
              <a:t>JENIS PER ENTITAS</a:t>
            </a:r>
            <a:endParaRPr lang="en-US" sz="1200" dirty="0"/>
          </a:p>
        </p:txBody>
      </p:sp>
      <p:sp>
        <p:nvSpPr>
          <p:cNvPr id="18" name="Text 16"/>
          <p:cNvSpPr/>
          <p:nvPr/>
        </p:nvSpPr>
        <p:spPr>
          <a:xfrm>
            <a:off x="7279349" y="4632660"/>
            <a:ext cx="422284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Mahasiswa-semester: 4 berbasis aturan + 1 halus</a:t>
            </a:r>
            <a:endParaRPr lang="en-US" sz="1200" dirty="0"/>
          </a:p>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Mata kuliah: 3 berbasis aturan</a:t>
            </a:r>
            <a:endParaRPr lang="en-US" sz="1200" dirty="0"/>
          </a:p>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Pengajaran: 1 berbasis aturan + 1 halus</a:t>
            </a:r>
            <a:endParaRPr lang="en-US" sz="12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9 · Deteksi anomali kepatuhan pada data PDDIKTI</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HASIL · AUC DAN PRECISION@K</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Kualitas deteksi per entitas</a:t>
            </a:r>
            <a:endParaRPr lang="en-US" sz="3600" dirty="0"/>
          </a:p>
        </p:txBody>
      </p:sp>
      <p:sp>
        <p:nvSpPr>
          <p:cNvPr id="4" name="Shape 2"/>
          <p:cNvSpPr/>
          <p:nvPr/>
        </p:nvSpPr>
        <p:spPr>
          <a:xfrm>
            <a:off x="863600" y="2156158"/>
            <a:ext cx="3420533" cy="0"/>
          </a:xfrm>
          <a:prstGeom prst="line">
            <a:avLst/>
          </a:prstGeom>
          <a:noFill/>
          <a:ln w="19050">
            <a:solidFill>
              <a:srgbClr val="B4501A"/>
            </a:solidFill>
            <a:prstDash val="solid"/>
          </a:ln>
        </p:spPr>
      </p:sp>
      <p:sp>
        <p:nvSpPr>
          <p:cNvPr id="5" name="Text 3"/>
          <p:cNvSpPr/>
          <p:nvPr/>
        </p:nvSpPr>
        <p:spPr>
          <a:xfrm>
            <a:off x="863600" y="1884629"/>
            <a:ext cx="352314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Mahasiswa-semester</a:t>
            </a:r>
            <a:endParaRPr lang="en-US" sz="1200" dirty="0"/>
          </a:p>
        </p:txBody>
      </p:sp>
      <p:sp>
        <p:nvSpPr>
          <p:cNvPr id="6" name="Shape 4"/>
          <p:cNvSpPr/>
          <p:nvPr/>
        </p:nvSpPr>
        <p:spPr>
          <a:xfrm>
            <a:off x="4385733" y="2156158"/>
            <a:ext cx="3420533" cy="0"/>
          </a:xfrm>
          <a:prstGeom prst="line">
            <a:avLst/>
          </a:prstGeom>
          <a:noFill/>
          <a:ln w="19050">
            <a:solidFill>
              <a:srgbClr val="B4501A"/>
            </a:solidFill>
            <a:prstDash val="solid"/>
          </a:ln>
        </p:spPr>
      </p:sp>
      <p:sp>
        <p:nvSpPr>
          <p:cNvPr id="7" name="Text 5"/>
          <p:cNvSpPr/>
          <p:nvPr/>
        </p:nvSpPr>
        <p:spPr>
          <a:xfrm>
            <a:off x="4385733" y="1884629"/>
            <a:ext cx="352314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Mata kuliah</a:t>
            </a:r>
            <a:endParaRPr lang="en-US" sz="1200" dirty="0"/>
          </a:p>
        </p:txBody>
      </p:sp>
      <p:sp>
        <p:nvSpPr>
          <p:cNvPr id="8" name="Shape 6"/>
          <p:cNvSpPr/>
          <p:nvPr/>
        </p:nvSpPr>
        <p:spPr>
          <a:xfrm>
            <a:off x="7907867" y="2156158"/>
            <a:ext cx="3420533" cy="0"/>
          </a:xfrm>
          <a:prstGeom prst="line">
            <a:avLst/>
          </a:prstGeom>
          <a:noFill/>
          <a:ln w="19050">
            <a:solidFill>
              <a:srgbClr val="B4501A"/>
            </a:solidFill>
            <a:prstDash val="solid"/>
          </a:ln>
        </p:spPr>
      </p:sp>
      <p:sp>
        <p:nvSpPr>
          <p:cNvPr id="9" name="Text 7"/>
          <p:cNvSpPr/>
          <p:nvPr/>
        </p:nvSpPr>
        <p:spPr>
          <a:xfrm>
            <a:off x="7907867" y="1884629"/>
            <a:ext cx="352314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Pengajaran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2229185"/>
          <a:ext cx="10553700" cy="2315766"/>
        </p:xfrm>
        <a:graphic>
          <a:graphicData uri="http://schemas.openxmlformats.org/drawingml/2006/table">
            <a:tbl>
              <a:tblPr/>
              <a:tblGrid>
                <a:gridCol w="1946799"/>
                <a:gridCol w="1434483"/>
                <a:gridCol w="1434483"/>
                <a:gridCol w="1434483"/>
                <a:gridCol w="1434483"/>
                <a:gridCol w="1434483"/>
                <a:gridCol w="1434483"/>
              </a:tblGrid>
              <a:tr h="38596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Metode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AUC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AUC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AUC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Aturan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0,904±0,004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0,810±0,008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1,000±0,000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1,000±0,000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0,750±0,000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0,513±0,016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Isolation Forest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0,826±0,009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0,237±0,044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0,983±0,005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0,700±0,092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0,979±0,005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0,818±0,041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0,884±0,015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0,386±0,029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0,993±0,006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0,906±0,027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0,865±0,037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0,785±0,036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Autoencoder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0,888±0,033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0,515±0,058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0,908±0,097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0,506±0,173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0,872±0,077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0,420±0,199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Gabungan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0,982±0,006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0,823±0,018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1,000±0,000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1,000±0,000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0,971±0,012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0,820±0,043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5"/>
                    </a:solidFill>
                  </a:tcPr>
                </a:tc>
              </a:tr>
            </a:tbl>
          </a:graphicData>
        </a:graphic>
      </p:graphicFrame>
      <p:sp>
        <p:nvSpPr>
          <p:cNvPr id="11" name="Text 8"/>
          <p:cNvSpPr/>
          <p:nvPr/>
        </p:nvSpPr>
        <p:spPr>
          <a:xfrm>
            <a:off x="812800" y="47989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Rata-rata ± simpangan baku dari 10 injeksi; k = jumlah anomali yang diinjeksi. Tebal = terbaik di kolomnya.</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10 · Deteksi anomali kepatuhan pada data PDDIKTI</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HASIL · RECALL TOP-K ANOMALI HALUS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Recall bergantung pada entitas</a:t>
            </a:r>
            <a:endParaRPr lang="en-US" sz="3600" dirty="0"/>
          </a:p>
        </p:txBody>
      </p:sp>
      <p:sp>
        <p:nvSpPr>
          <p:cNvPr id="4" name="Text 2"/>
          <p:cNvSpPr/>
          <p:nvPr/>
        </p:nvSpPr>
        <p:spPr>
          <a:xfrm>
            <a:off x="812800" y="1935429"/>
            <a:ext cx="533704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Mahasiswa-semester</a:t>
            </a:r>
            <a:endParaRPr lang="en-US" sz="2200" dirty="0"/>
          </a:p>
        </p:txBody>
      </p:sp>
      <p:sp>
        <p:nvSpPr>
          <p:cNvPr id="5" name="Text 3"/>
          <p:cNvSpPr/>
          <p:nvPr/>
        </p:nvSpPr>
        <p:spPr>
          <a:xfrm>
            <a:off x="812800" y="243317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Aturan</a:t>
            </a:r>
            <a:endParaRPr lang="en-US" sz="1200" dirty="0"/>
          </a:p>
        </p:txBody>
      </p:sp>
      <p:sp>
        <p:nvSpPr>
          <p:cNvPr id="6" name="Shape 4"/>
          <p:cNvSpPr/>
          <p:nvPr/>
        </p:nvSpPr>
        <p:spPr>
          <a:xfrm>
            <a:off x="2438400" y="2438270"/>
            <a:ext cx="2540000" cy="203200"/>
          </a:xfrm>
          <a:prstGeom prst="rect">
            <a:avLst/>
          </a:prstGeom>
          <a:solidFill>
            <a:srgbClr val="E7E3DA"/>
          </a:solidFill>
          <a:ln/>
        </p:spPr>
      </p:sp>
      <p:sp>
        <p:nvSpPr>
          <p:cNvPr id="7" name="Shape 5"/>
          <p:cNvSpPr/>
          <p:nvPr/>
        </p:nvSpPr>
        <p:spPr>
          <a:xfrm>
            <a:off x="2438400" y="2438270"/>
            <a:ext cx="127000" cy="203200"/>
          </a:xfrm>
          <a:prstGeom prst="rect">
            <a:avLst/>
          </a:prstGeom>
          <a:solidFill>
            <a:srgbClr val="2B5C9E"/>
          </a:solidFill>
          <a:ln/>
        </p:spPr>
      </p:sp>
      <p:sp>
        <p:nvSpPr>
          <p:cNvPr id="8" name="Text 6"/>
          <p:cNvSpPr/>
          <p:nvPr/>
        </p:nvSpPr>
        <p:spPr>
          <a:xfrm>
            <a:off x="5080000" y="2397658"/>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0,049</a:t>
            </a:r>
            <a:endParaRPr lang="en-US" sz="1600" dirty="0"/>
          </a:p>
        </p:txBody>
      </p:sp>
      <p:sp>
        <p:nvSpPr>
          <p:cNvPr id="9" name="Text 7"/>
          <p:cNvSpPr/>
          <p:nvPr/>
        </p:nvSpPr>
        <p:spPr>
          <a:xfrm>
            <a:off x="812800" y="2844602"/>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Isolation Forest</a:t>
            </a:r>
            <a:endParaRPr lang="en-US" sz="1200" dirty="0"/>
          </a:p>
        </p:txBody>
      </p:sp>
      <p:sp>
        <p:nvSpPr>
          <p:cNvPr id="10" name="Shape 8"/>
          <p:cNvSpPr/>
          <p:nvPr/>
        </p:nvSpPr>
        <p:spPr>
          <a:xfrm>
            <a:off x="2438400" y="2849699"/>
            <a:ext cx="2540000" cy="203200"/>
          </a:xfrm>
          <a:prstGeom prst="rect">
            <a:avLst/>
          </a:prstGeom>
          <a:solidFill>
            <a:srgbClr val="E7E3DA"/>
          </a:solidFill>
          <a:ln/>
        </p:spPr>
      </p:sp>
      <p:sp>
        <p:nvSpPr>
          <p:cNvPr id="11" name="Shape 9"/>
          <p:cNvSpPr/>
          <p:nvPr/>
        </p:nvSpPr>
        <p:spPr>
          <a:xfrm>
            <a:off x="2438400" y="2849699"/>
            <a:ext cx="38100" cy="203200"/>
          </a:xfrm>
          <a:prstGeom prst="rect">
            <a:avLst/>
          </a:prstGeom>
          <a:solidFill>
            <a:srgbClr val="2B5C9E"/>
          </a:solidFill>
          <a:ln/>
        </p:spPr>
      </p:sp>
      <p:sp>
        <p:nvSpPr>
          <p:cNvPr id="12" name="Text 10"/>
          <p:cNvSpPr/>
          <p:nvPr/>
        </p:nvSpPr>
        <p:spPr>
          <a:xfrm>
            <a:off x="5080000" y="2809081"/>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0,015</a:t>
            </a:r>
            <a:endParaRPr lang="en-US" sz="1600" dirty="0"/>
          </a:p>
        </p:txBody>
      </p:sp>
      <p:sp>
        <p:nvSpPr>
          <p:cNvPr id="13" name="Text 11"/>
          <p:cNvSpPr/>
          <p:nvPr/>
        </p:nvSpPr>
        <p:spPr>
          <a:xfrm>
            <a:off x="812800" y="325603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LOF</a:t>
            </a:r>
            <a:endParaRPr lang="en-US" sz="1200" dirty="0"/>
          </a:p>
        </p:txBody>
      </p:sp>
      <p:sp>
        <p:nvSpPr>
          <p:cNvPr id="14" name="Shape 12"/>
          <p:cNvSpPr/>
          <p:nvPr/>
        </p:nvSpPr>
        <p:spPr>
          <a:xfrm>
            <a:off x="2438400" y="3261122"/>
            <a:ext cx="2540000" cy="203200"/>
          </a:xfrm>
          <a:prstGeom prst="rect">
            <a:avLst/>
          </a:prstGeom>
          <a:solidFill>
            <a:srgbClr val="E7E3DA"/>
          </a:solidFill>
          <a:ln/>
        </p:spPr>
      </p:sp>
      <p:sp>
        <p:nvSpPr>
          <p:cNvPr id="15" name="Shape 13"/>
          <p:cNvSpPr/>
          <p:nvPr/>
        </p:nvSpPr>
        <p:spPr>
          <a:xfrm>
            <a:off x="2438400" y="3261122"/>
            <a:ext cx="781050" cy="203200"/>
          </a:xfrm>
          <a:prstGeom prst="rect">
            <a:avLst/>
          </a:prstGeom>
          <a:solidFill>
            <a:srgbClr val="2B5C9E"/>
          </a:solidFill>
          <a:ln/>
        </p:spPr>
      </p:sp>
      <p:sp>
        <p:nvSpPr>
          <p:cNvPr id="16" name="Text 14"/>
          <p:cNvSpPr/>
          <p:nvPr/>
        </p:nvSpPr>
        <p:spPr>
          <a:xfrm>
            <a:off x="5080000" y="3220510"/>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0,308</a:t>
            </a:r>
            <a:endParaRPr lang="en-US" sz="1600" dirty="0"/>
          </a:p>
        </p:txBody>
      </p:sp>
      <p:sp>
        <p:nvSpPr>
          <p:cNvPr id="17" name="Text 15"/>
          <p:cNvSpPr/>
          <p:nvPr/>
        </p:nvSpPr>
        <p:spPr>
          <a:xfrm>
            <a:off x="812800" y="3667460"/>
            <a:ext cx="157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Autoencoder</a:t>
            </a:r>
            <a:endParaRPr lang="en-US" sz="1200" dirty="0"/>
          </a:p>
        </p:txBody>
      </p:sp>
      <p:sp>
        <p:nvSpPr>
          <p:cNvPr id="18" name="Shape 16"/>
          <p:cNvSpPr/>
          <p:nvPr/>
        </p:nvSpPr>
        <p:spPr>
          <a:xfrm>
            <a:off x="2438400" y="3672551"/>
            <a:ext cx="2540000" cy="203200"/>
          </a:xfrm>
          <a:prstGeom prst="rect">
            <a:avLst/>
          </a:prstGeom>
          <a:solidFill>
            <a:srgbClr val="E7E3DA"/>
          </a:solidFill>
          <a:ln/>
        </p:spPr>
      </p:sp>
      <p:sp>
        <p:nvSpPr>
          <p:cNvPr id="19" name="Shape 17"/>
          <p:cNvSpPr/>
          <p:nvPr/>
        </p:nvSpPr>
        <p:spPr>
          <a:xfrm>
            <a:off x="2438400" y="3672551"/>
            <a:ext cx="990600" cy="203200"/>
          </a:xfrm>
          <a:prstGeom prst="rect">
            <a:avLst/>
          </a:prstGeom>
          <a:solidFill>
            <a:srgbClr val="B4501A"/>
          </a:solidFill>
          <a:ln/>
        </p:spPr>
      </p:sp>
      <p:sp>
        <p:nvSpPr>
          <p:cNvPr id="20" name="Text 18"/>
          <p:cNvSpPr/>
          <p:nvPr/>
        </p:nvSpPr>
        <p:spPr>
          <a:xfrm>
            <a:off x="5080000" y="3631940"/>
            <a:ext cx="685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0,390</a:t>
            </a:r>
            <a:endParaRPr lang="en-US" sz="1600" dirty="0"/>
          </a:p>
        </p:txBody>
      </p:sp>
      <p:sp>
        <p:nvSpPr>
          <p:cNvPr id="21" name="Text 19"/>
          <p:cNvSpPr/>
          <p:nvPr/>
        </p:nvSpPr>
        <p:spPr>
          <a:xfrm>
            <a:off x="812800" y="4078883"/>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Gabungan</a:t>
            </a:r>
            <a:endParaRPr lang="en-US" sz="1200" dirty="0"/>
          </a:p>
        </p:txBody>
      </p:sp>
      <p:sp>
        <p:nvSpPr>
          <p:cNvPr id="22" name="Shape 20"/>
          <p:cNvSpPr/>
          <p:nvPr/>
        </p:nvSpPr>
        <p:spPr>
          <a:xfrm>
            <a:off x="2438400" y="4083980"/>
            <a:ext cx="2540000" cy="203200"/>
          </a:xfrm>
          <a:prstGeom prst="rect">
            <a:avLst/>
          </a:prstGeom>
          <a:solidFill>
            <a:srgbClr val="E7E3DA"/>
          </a:solidFill>
          <a:ln/>
        </p:spPr>
      </p:sp>
      <p:sp>
        <p:nvSpPr>
          <p:cNvPr id="23" name="Shape 21"/>
          <p:cNvSpPr/>
          <p:nvPr/>
        </p:nvSpPr>
        <p:spPr>
          <a:xfrm>
            <a:off x="2438400" y="4083980"/>
            <a:ext cx="285750" cy="203200"/>
          </a:xfrm>
          <a:prstGeom prst="rect">
            <a:avLst/>
          </a:prstGeom>
          <a:solidFill>
            <a:srgbClr val="2B5C9E"/>
          </a:solidFill>
          <a:ln/>
        </p:spPr>
      </p:sp>
      <p:sp>
        <p:nvSpPr>
          <p:cNvPr id="24" name="Text 22"/>
          <p:cNvSpPr/>
          <p:nvPr/>
        </p:nvSpPr>
        <p:spPr>
          <a:xfrm>
            <a:off x="5080000" y="4043363"/>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0,113</a:t>
            </a:r>
            <a:endParaRPr lang="en-US" sz="1600" dirty="0"/>
          </a:p>
        </p:txBody>
      </p:sp>
      <p:sp>
        <p:nvSpPr>
          <p:cNvPr id="25" name="Shape 23"/>
          <p:cNvSpPr/>
          <p:nvPr/>
        </p:nvSpPr>
        <p:spPr>
          <a:xfrm>
            <a:off x="812800" y="4461142"/>
            <a:ext cx="5181600" cy="0"/>
          </a:xfrm>
          <a:prstGeom prst="line">
            <a:avLst/>
          </a:prstGeom>
          <a:noFill/>
          <a:ln w="12700">
            <a:solidFill>
              <a:srgbClr val="C9C3B6"/>
            </a:solidFill>
            <a:prstDash val="solid"/>
          </a:ln>
        </p:spPr>
      </p:sp>
      <p:sp>
        <p:nvSpPr>
          <p:cNvPr id="26" name="Text 24"/>
          <p:cNvSpPr/>
          <p:nvPr/>
        </p:nvSpPr>
        <p:spPr>
          <a:xfrm>
            <a:off x="812800" y="4569092"/>
            <a:ext cx="53370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Anomali berbasis aturan: Aturan 1,000 · IF 0,293 · LOF 0,405 · AE 0,547 · Gabungan 1,000</a:t>
            </a:r>
            <a:endParaRPr lang="en-US" sz="1200" dirty="0"/>
          </a:p>
        </p:txBody>
      </p:sp>
      <p:sp>
        <p:nvSpPr>
          <p:cNvPr id="27" name="Text 25"/>
          <p:cNvSpPr/>
          <p:nvPr/>
        </p:nvSpPr>
        <p:spPr>
          <a:xfrm>
            <a:off x="6197600" y="1935429"/>
            <a:ext cx="533704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ource Serif 4" pitchFamily="18" charset="0"/>
                <a:ea typeface="Source Serif 4" pitchFamily="18" charset="-122"/>
                <a:cs typeface="Source Serif 4" pitchFamily="18" charset="-120"/>
              </a:rPr>
              <a:t>Pengajaran</a:t>
            </a:r>
            <a:endParaRPr lang="en-US" sz="2200" dirty="0"/>
          </a:p>
        </p:txBody>
      </p:sp>
      <p:sp>
        <p:nvSpPr>
          <p:cNvPr id="28" name="Text 26"/>
          <p:cNvSpPr/>
          <p:nvPr/>
        </p:nvSpPr>
        <p:spPr>
          <a:xfrm>
            <a:off x="6197600" y="2433179"/>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Aturan</a:t>
            </a:r>
            <a:endParaRPr lang="en-US" sz="1200" dirty="0"/>
          </a:p>
        </p:txBody>
      </p:sp>
      <p:sp>
        <p:nvSpPr>
          <p:cNvPr id="29" name="Shape 27"/>
          <p:cNvSpPr/>
          <p:nvPr/>
        </p:nvSpPr>
        <p:spPr>
          <a:xfrm>
            <a:off x="7823200" y="2438270"/>
            <a:ext cx="2540000" cy="203200"/>
          </a:xfrm>
          <a:prstGeom prst="rect">
            <a:avLst/>
          </a:prstGeom>
          <a:solidFill>
            <a:srgbClr val="E7E3DA"/>
          </a:solidFill>
          <a:ln/>
        </p:spPr>
      </p:sp>
      <p:sp>
        <p:nvSpPr>
          <p:cNvPr id="30" name="Shape 28"/>
          <p:cNvSpPr/>
          <p:nvPr/>
        </p:nvSpPr>
        <p:spPr>
          <a:xfrm>
            <a:off x="7823200" y="2438270"/>
            <a:ext cx="69850" cy="203200"/>
          </a:xfrm>
          <a:prstGeom prst="rect">
            <a:avLst/>
          </a:prstGeom>
          <a:solidFill>
            <a:srgbClr val="2B5C9E"/>
          </a:solidFill>
          <a:ln/>
        </p:spPr>
      </p:sp>
      <p:sp>
        <p:nvSpPr>
          <p:cNvPr id="31" name="Text 29"/>
          <p:cNvSpPr/>
          <p:nvPr/>
        </p:nvSpPr>
        <p:spPr>
          <a:xfrm>
            <a:off x="10464800" y="2397658"/>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0,027</a:t>
            </a:r>
            <a:endParaRPr lang="en-US" sz="1600" dirty="0"/>
          </a:p>
        </p:txBody>
      </p:sp>
      <p:sp>
        <p:nvSpPr>
          <p:cNvPr id="32" name="Text 30"/>
          <p:cNvSpPr/>
          <p:nvPr/>
        </p:nvSpPr>
        <p:spPr>
          <a:xfrm>
            <a:off x="6197600" y="2844602"/>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Isolation Forest</a:t>
            </a:r>
            <a:endParaRPr lang="en-US" sz="1200" dirty="0"/>
          </a:p>
        </p:txBody>
      </p:sp>
      <p:sp>
        <p:nvSpPr>
          <p:cNvPr id="33" name="Shape 31"/>
          <p:cNvSpPr/>
          <p:nvPr/>
        </p:nvSpPr>
        <p:spPr>
          <a:xfrm>
            <a:off x="7823200" y="2849699"/>
            <a:ext cx="2540000" cy="203200"/>
          </a:xfrm>
          <a:prstGeom prst="rect">
            <a:avLst/>
          </a:prstGeom>
          <a:solidFill>
            <a:srgbClr val="E7E3DA"/>
          </a:solidFill>
          <a:ln/>
        </p:spPr>
      </p:sp>
      <p:sp>
        <p:nvSpPr>
          <p:cNvPr id="34" name="Shape 32"/>
          <p:cNvSpPr/>
          <p:nvPr/>
        </p:nvSpPr>
        <p:spPr>
          <a:xfrm>
            <a:off x="7823200" y="2849699"/>
            <a:ext cx="1676400" cy="203200"/>
          </a:xfrm>
          <a:prstGeom prst="rect">
            <a:avLst/>
          </a:prstGeom>
          <a:solidFill>
            <a:srgbClr val="2B5C9E"/>
          </a:solidFill>
          <a:ln/>
        </p:spPr>
      </p:sp>
      <p:sp>
        <p:nvSpPr>
          <p:cNvPr id="35" name="Text 33"/>
          <p:cNvSpPr/>
          <p:nvPr/>
        </p:nvSpPr>
        <p:spPr>
          <a:xfrm>
            <a:off x="10464800" y="2809081"/>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0,661</a:t>
            </a:r>
            <a:endParaRPr lang="en-US" sz="1600" dirty="0"/>
          </a:p>
        </p:txBody>
      </p:sp>
      <p:sp>
        <p:nvSpPr>
          <p:cNvPr id="36" name="Text 34"/>
          <p:cNvSpPr/>
          <p:nvPr/>
        </p:nvSpPr>
        <p:spPr>
          <a:xfrm>
            <a:off x="6197600" y="3256031"/>
            <a:ext cx="157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LOF</a:t>
            </a:r>
            <a:endParaRPr lang="en-US" sz="1200" dirty="0"/>
          </a:p>
        </p:txBody>
      </p:sp>
      <p:sp>
        <p:nvSpPr>
          <p:cNvPr id="37" name="Shape 35"/>
          <p:cNvSpPr/>
          <p:nvPr/>
        </p:nvSpPr>
        <p:spPr>
          <a:xfrm>
            <a:off x="7823200" y="3261122"/>
            <a:ext cx="2540000" cy="203200"/>
          </a:xfrm>
          <a:prstGeom prst="rect">
            <a:avLst/>
          </a:prstGeom>
          <a:solidFill>
            <a:srgbClr val="E7E3DA"/>
          </a:solidFill>
          <a:ln/>
        </p:spPr>
      </p:sp>
      <p:sp>
        <p:nvSpPr>
          <p:cNvPr id="38" name="Shape 36"/>
          <p:cNvSpPr/>
          <p:nvPr/>
        </p:nvSpPr>
        <p:spPr>
          <a:xfrm>
            <a:off x="7823200" y="3261122"/>
            <a:ext cx="1695450" cy="203200"/>
          </a:xfrm>
          <a:prstGeom prst="rect">
            <a:avLst/>
          </a:prstGeom>
          <a:solidFill>
            <a:srgbClr val="B4501A"/>
          </a:solidFill>
          <a:ln/>
        </p:spPr>
      </p:sp>
      <p:sp>
        <p:nvSpPr>
          <p:cNvPr id="39" name="Text 37"/>
          <p:cNvSpPr/>
          <p:nvPr/>
        </p:nvSpPr>
        <p:spPr>
          <a:xfrm>
            <a:off x="10464800" y="3220510"/>
            <a:ext cx="6858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0,668</a:t>
            </a:r>
            <a:endParaRPr lang="en-US" sz="1600" dirty="0"/>
          </a:p>
        </p:txBody>
      </p:sp>
      <p:sp>
        <p:nvSpPr>
          <p:cNvPr id="40" name="Text 38"/>
          <p:cNvSpPr/>
          <p:nvPr/>
        </p:nvSpPr>
        <p:spPr>
          <a:xfrm>
            <a:off x="6197600" y="366746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Autoencoder</a:t>
            </a:r>
            <a:endParaRPr lang="en-US" sz="1200" dirty="0"/>
          </a:p>
        </p:txBody>
      </p:sp>
      <p:sp>
        <p:nvSpPr>
          <p:cNvPr id="41" name="Shape 39"/>
          <p:cNvSpPr/>
          <p:nvPr/>
        </p:nvSpPr>
        <p:spPr>
          <a:xfrm>
            <a:off x="7823200" y="3672551"/>
            <a:ext cx="2540000" cy="203200"/>
          </a:xfrm>
          <a:prstGeom prst="rect">
            <a:avLst/>
          </a:prstGeom>
          <a:solidFill>
            <a:srgbClr val="E7E3DA"/>
          </a:solidFill>
          <a:ln/>
        </p:spPr>
      </p:sp>
      <p:sp>
        <p:nvSpPr>
          <p:cNvPr id="42" name="Shape 40"/>
          <p:cNvSpPr/>
          <p:nvPr/>
        </p:nvSpPr>
        <p:spPr>
          <a:xfrm>
            <a:off x="7823200" y="3672551"/>
            <a:ext cx="368300" cy="203200"/>
          </a:xfrm>
          <a:prstGeom prst="rect">
            <a:avLst/>
          </a:prstGeom>
          <a:solidFill>
            <a:srgbClr val="2B5C9E"/>
          </a:solidFill>
          <a:ln/>
        </p:spPr>
      </p:sp>
      <p:sp>
        <p:nvSpPr>
          <p:cNvPr id="43" name="Text 41"/>
          <p:cNvSpPr/>
          <p:nvPr/>
        </p:nvSpPr>
        <p:spPr>
          <a:xfrm>
            <a:off x="10464800" y="3631940"/>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0,144</a:t>
            </a:r>
            <a:endParaRPr lang="en-US" sz="1600" dirty="0"/>
          </a:p>
        </p:txBody>
      </p:sp>
      <p:sp>
        <p:nvSpPr>
          <p:cNvPr id="44" name="Text 42"/>
          <p:cNvSpPr/>
          <p:nvPr/>
        </p:nvSpPr>
        <p:spPr>
          <a:xfrm>
            <a:off x="6197600" y="4078883"/>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Gabungan</a:t>
            </a:r>
            <a:endParaRPr lang="en-US" sz="1200" dirty="0"/>
          </a:p>
        </p:txBody>
      </p:sp>
      <p:sp>
        <p:nvSpPr>
          <p:cNvPr id="45" name="Shape 43"/>
          <p:cNvSpPr/>
          <p:nvPr/>
        </p:nvSpPr>
        <p:spPr>
          <a:xfrm>
            <a:off x="7823200" y="4083980"/>
            <a:ext cx="2540000" cy="203200"/>
          </a:xfrm>
          <a:prstGeom prst="rect">
            <a:avLst/>
          </a:prstGeom>
          <a:solidFill>
            <a:srgbClr val="E7E3DA"/>
          </a:solidFill>
          <a:ln/>
        </p:spPr>
      </p:sp>
      <p:sp>
        <p:nvSpPr>
          <p:cNvPr id="46" name="Shape 44"/>
          <p:cNvSpPr/>
          <p:nvPr/>
        </p:nvSpPr>
        <p:spPr>
          <a:xfrm>
            <a:off x="7823200" y="4083980"/>
            <a:ext cx="1625600" cy="203200"/>
          </a:xfrm>
          <a:prstGeom prst="rect">
            <a:avLst/>
          </a:prstGeom>
          <a:solidFill>
            <a:srgbClr val="2B5C9E"/>
          </a:solidFill>
          <a:ln/>
        </p:spPr>
      </p:sp>
      <p:sp>
        <p:nvSpPr>
          <p:cNvPr id="47" name="Text 45"/>
          <p:cNvSpPr/>
          <p:nvPr/>
        </p:nvSpPr>
        <p:spPr>
          <a:xfrm>
            <a:off x="10464800" y="4043363"/>
            <a:ext cx="6858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0,639</a:t>
            </a:r>
            <a:endParaRPr lang="en-US" sz="1600" dirty="0"/>
          </a:p>
        </p:txBody>
      </p:sp>
      <p:sp>
        <p:nvSpPr>
          <p:cNvPr id="48" name="Shape 46"/>
          <p:cNvSpPr/>
          <p:nvPr/>
        </p:nvSpPr>
        <p:spPr>
          <a:xfrm>
            <a:off x="6197600" y="4461142"/>
            <a:ext cx="5181600" cy="0"/>
          </a:xfrm>
          <a:prstGeom prst="line">
            <a:avLst/>
          </a:prstGeom>
          <a:noFill/>
          <a:ln w="12700">
            <a:solidFill>
              <a:srgbClr val="C9C3B6"/>
            </a:solidFill>
            <a:prstDash val="solid"/>
          </a:ln>
        </p:spPr>
      </p:sp>
      <p:sp>
        <p:nvSpPr>
          <p:cNvPr id="49" name="Text 47"/>
          <p:cNvSpPr/>
          <p:nvPr/>
        </p:nvSpPr>
        <p:spPr>
          <a:xfrm>
            <a:off x="6197600" y="4569092"/>
            <a:ext cx="53370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Anomali berbasis aturan: Aturan 1,000 · IF 0,976 · LOF 0,902 · AE 0,695 · Gabungan 1,000</a:t>
            </a:r>
            <a:endParaRPr lang="en-US" sz="1200" dirty="0"/>
          </a:p>
        </p:txBody>
      </p:sp>
      <p:sp>
        <p:nvSpPr>
          <p:cNvPr id="50" name="Text 4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11 · Deteksi anomali kepatuhan pada data PDDIKTI · rata-rata 10 injeksi; oranye tebal = terbaik per entitas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6B"/>
                </a:solidFill>
                <a:latin typeface="IBM Plex Sans" pitchFamily="34" charset="0"/>
                <a:ea typeface="IBM Plex Sans" pitchFamily="34" charset="-122"/>
                <a:cs typeface="IBM Plex Sans" pitchFamily="34" charset="-120"/>
              </a:rPr>
              <a:t>TEMUAN UTAMA</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Source Serif 4" pitchFamily="18" charset="0"/>
                <a:ea typeface="Source Serif 4" pitchFamily="18" charset="-122"/>
                <a:cs typeface="Source Serif 4" pitchFamily="18" charset="-120"/>
              </a:rPr>
              <a:t>Apa yang ditunjukkan hasil</a:t>
            </a:r>
            <a:endParaRPr lang="en-US" sz="3600" dirty="0"/>
          </a:p>
        </p:txBody>
      </p:sp>
      <p:sp>
        <p:nvSpPr>
          <p:cNvPr id="4" name="Shape 2"/>
          <p:cNvSpPr/>
          <p:nvPr/>
        </p:nvSpPr>
        <p:spPr>
          <a:xfrm>
            <a:off x="812800" y="1948129"/>
            <a:ext cx="3318933" cy="0"/>
          </a:xfrm>
          <a:prstGeom prst="line">
            <a:avLst/>
          </a:prstGeom>
          <a:noFill/>
          <a:ln w="25400">
            <a:solidFill>
              <a:srgbClr val="F0A36B"/>
            </a:solidFill>
            <a:prstDash val="solid"/>
          </a:ln>
        </p:spPr>
      </p:sp>
      <p:sp>
        <p:nvSpPr>
          <p:cNvPr id="5" name="Text 3"/>
          <p:cNvSpPr/>
          <p:nvPr/>
        </p:nvSpPr>
        <p:spPr>
          <a:xfrm>
            <a:off x="812800" y="2113229"/>
            <a:ext cx="341850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F7F6F2"/>
                </a:solidFill>
                <a:latin typeface="Source Serif 4" pitchFamily="18" charset="0"/>
                <a:ea typeface="Source Serif 4" pitchFamily="18" charset="-122"/>
                <a:cs typeface="Source Serif 4" pitchFamily="18" charset="-120"/>
              </a:rPr>
              <a:t>0,982</a:t>
            </a:r>
            <a:endParaRPr lang="en-US" sz="6000" dirty="0"/>
          </a:p>
        </p:txBody>
      </p:sp>
      <p:sp>
        <p:nvSpPr>
          <p:cNvPr id="6" name="Text 4"/>
          <p:cNvSpPr/>
          <p:nvPr/>
        </p:nvSpPr>
        <p:spPr>
          <a:xfrm>
            <a:off x="812800" y="3027629"/>
            <a:ext cx="3418501"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IBM Plex Sans" pitchFamily="34" charset="0"/>
                <a:ea typeface="IBM Plex Sans" pitchFamily="34" charset="-122"/>
                <a:cs typeface="IBM Plex Sans" pitchFamily="34" charset="-120"/>
              </a:rPr>
              <a:t>AUC detektor gabungan pada data mahasiswa-semester, meski recall anomali halusnya hanya 0,113</a:t>
            </a:r>
            <a:endParaRPr lang="en-US" sz="1600" dirty="0"/>
          </a:p>
        </p:txBody>
      </p:sp>
      <p:sp>
        <p:nvSpPr>
          <p:cNvPr id="7" name="Shape 5"/>
          <p:cNvSpPr/>
          <p:nvPr/>
        </p:nvSpPr>
        <p:spPr>
          <a:xfrm>
            <a:off x="4436533" y="1948129"/>
            <a:ext cx="3318933" cy="0"/>
          </a:xfrm>
          <a:prstGeom prst="line">
            <a:avLst/>
          </a:prstGeom>
          <a:noFill/>
          <a:ln w="25400">
            <a:solidFill>
              <a:srgbClr val="F0A36B"/>
            </a:solidFill>
            <a:prstDash val="solid"/>
          </a:ln>
        </p:spPr>
      </p:sp>
      <p:sp>
        <p:nvSpPr>
          <p:cNvPr id="8" name="Text 6"/>
          <p:cNvSpPr/>
          <p:nvPr/>
        </p:nvSpPr>
        <p:spPr>
          <a:xfrm>
            <a:off x="4436533" y="2113229"/>
            <a:ext cx="341850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F7F6F2"/>
                </a:solidFill>
                <a:latin typeface="Source Serif 4" pitchFamily="18" charset="0"/>
                <a:ea typeface="Source Serif 4" pitchFamily="18" charset="-122"/>
                <a:cs typeface="Source Serif 4" pitchFamily="18" charset="-120"/>
              </a:rPr>
              <a:t>≈ 2/3</a:t>
            </a:r>
            <a:endParaRPr lang="en-US" sz="6000" dirty="0"/>
          </a:p>
        </p:txBody>
      </p:sp>
      <p:sp>
        <p:nvSpPr>
          <p:cNvPr id="9" name="Text 7"/>
          <p:cNvSpPr/>
          <p:nvPr/>
        </p:nvSpPr>
        <p:spPr>
          <a:xfrm>
            <a:off x="4436533" y="3027629"/>
            <a:ext cx="3418501"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IBM Plex Sans" pitchFamily="34" charset="0"/>
                <a:ea typeface="IBM Plex Sans" pitchFamily="34" charset="-122"/>
                <a:cs typeface="IBM Plex Sans" pitchFamily="34" charset="-120"/>
              </a:rPr>
              <a:t>anomali halus pengajaran ditemukan oleh Isolation Forest dan LOF</a:t>
            </a:r>
            <a:endParaRPr lang="en-US" sz="1600" dirty="0"/>
          </a:p>
        </p:txBody>
      </p:sp>
      <p:sp>
        <p:nvSpPr>
          <p:cNvPr id="10" name="Shape 8"/>
          <p:cNvSpPr/>
          <p:nvPr/>
        </p:nvSpPr>
        <p:spPr>
          <a:xfrm>
            <a:off x="8060267" y="1948129"/>
            <a:ext cx="3318933" cy="0"/>
          </a:xfrm>
          <a:prstGeom prst="line">
            <a:avLst/>
          </a:prstGeom>
          <a:noFill/>
          <a:ln w="25400">
            <a:solidFill>
              <a:srgbClr val="F0A36B"/>
            </a:solidFill>
            <a:prstDash val="solid"/>
          </a:ln>
        </p:spPr>
      </p:sp>
      <p:sp>
        <p:nvSpPr>
          <p:cNvPr id="11" name="Text 9"/>
          <p:cNvSpPr/>
          <p:nvPr/>
        </p:nvSpPr>
        <p:spPr>
          <a:xfrm>
            <a:off x="8060267" y="2113229"/>
            <a:ext cx="341850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F7F6F2"/>
                </a:solidFill>
                <a:latin typeface="Source Serif 4" pitchFamily="18" charset="0"/>
                <a:ea typeface="Source Serif 4" pitchFamily="18" charset="-122"/>
                <a:cs typeface="Source Serif 4" pitchFamily="18" charset="-120"/>
              </a:rPr>
              <a:t>39%</a:t>
            </a:r>
            <a:endParaRPr lang="en-US" sz="6000" dirty="0"/>
          </a:p>
        </p:txBody>
      </p:sp>
      <p:sp>
        <p:nvSpPr>
          <p:cNvPr id="12" name="Text 10"/>
          <p:cNvSpPr/>
          <p:nvPr/>
        </p:nvSpPr>
        <p:spPr>
          <a:xfrm>
            <a:off x="8060267" y="3027629"/>
            <a:ext cx="3418501"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IBM Plex Sans" pitchFamily="34" charset="0"/>
                <a:ea typeface="IBM Plex Sans" pitchFamily="34" charset="-122"/>
                <a:cs typeface="IBM Plex Sans" pitchFamily="34" charset="-120"/>
              </a:rPr>
              <a:t>recall anomali halus terbaik pada mahasiswa-semester, oleh autoencoder</a:t>
            </a:r>
            <a:endParaRPr lang="en-US" sz="1600" dirty="0"/>
          </a:p>
        </p:txBody>
      </p:sp>
      <p:sp>
        <p:nvSpPr>
          <p:cNvPr id="13" name="Text 11"/>
          <p:cNvSpPr/>
          <p:nvPr/>
        </p:nvSpPr>
        <p:spPr>
          <a:xfrm>
            <a:off x="812800" y="4185710"/>
            <a:ext cx="10203180" cy="1031081"/>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6F2"/>
                </a:solidFill>
                <a:latin typeface="Source Serif 4" pitchFamily="18" charset="0"/>
                <a:ea typeface="Source Serif 4" pitchFamily="18" charset="-122"/>
                <a:cs typeface="Source Serif 4" pitchFamily="18" charset="-120"/>
              </a:rPr>
              <a:t>Aturan memberi deteksi yang pasti dan dapat dijelaskan untuk pelanggaran eksplisit; detektor unsupervised menjangkau penyimpangan yang tidak dirumuskan aturan.</a:t>
            </a:r>
            <a:endParaRPr lang="en-US" sz="2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12 · Deteksi anomali kepatuhan pada data PDDIKTI</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A"/>
                </a:solidFill>
                <a:latin typeface="IBM Plex Sans" pitchFamily="34" charset="0"/>
                <a:ea typeface="IBM Plex Sans" pitchFamily="34" charset="-122"/>
                <a:cs typeface="IBM Plex Sans" pitchFamily="34" charset="-120"/>
              </a:rPr>
              <a:t>KETERBATASAN</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Eksperimen terkendali</a:t>
            </a:r>
            <a:endParaRPr lang="en-US" sz="3600" dirty="0"/>
          </a:p>
        </p:txBody>
      </p:sp>
      <p:sp>
        <p:nvSpPr>
          <p:cNvPr id="4" name="Shape 2"/>
          <p:cNvSpPr/>
          <p:nvPr/>
        </p:nvSpPr>
        <p:spPr>
          <a:xfrm>
            <a:off x="812800" y="1992579"/>
            <a:ext cx="10566400" cy="0"/>
          </a:xfrm>
          <a:prstGeom prst="line">
            <a:avLst/>
          </a:prstGeom>
          <a:noFill/>
          <a:ln w="12700">
            <a:solidFill>
              <a:srgbClr val="C9C3B6"/>
            </a:solidFill>
            <a:prstDash val="solid"/>
          </a:ln>
        </p:spPr>
      </p:sp>
      <p:pic>
        <p:nvPicPr>
          <p:cNvPr id="5" name="Image 0" descr="Warning">    </p:cNvPr>
          <p:cNvPicPr>
            <a:picLocks noChangeAspect="1"/>
          </p:cNvPicPr>
          <p:nvPr/>
        </p:nvPicPr>
        <p:blipFill>
          <a:blip r:embed="rId1"/>
          <a:srcRect l="0" r="0" t="0" b="0"/>
          <a:stretch/>
        </p:blipFill>
        <p:spPr>
          <a:xfrm>
            <a:off x="812800" y="2166541"/>
            <a:ext cx="254000" cy="254000"/>
          </a:xfrm>
          <a:prstGeom prst="rect">
            <a:avLst/>
          </a:prstGeom>
        </p:spPr>
      </p:pic>
      <p:sp>
        <p:nvSpPr>
          <p:cNvPr id="6" name="Text 3"/>
          <p:cNvSpPr/>
          <p:nvPr/>
        </p:nvSpPr>
        <p:spPr>
          <a:xfrm>
            <a:off x="1270000" y="2151329"/>
            <a:ext cx="101092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Anomali injeksi bersifat sintetis: hasil mengukur kemampuan deteksi, bukan prevalensi pelanggaran nyata</a:t>
            </a:r>
            <a:endParaRPr lang="en-US" sz="1600" dirty="0"/>
          </a:p>
        </p:txBody>
      </p:sp>
      <p:sp>
        <p:nvSpPr>
          <p:cNvPr id="7" name="Shape 4"/>
          <p:cNvSpPr/>
          <p:nvPr/>
        </p:nvSpPr>
        <p:spPr>
          <a:xfrm>
            <a:off x="812800" y="2594508"/>
            <a:ext cx="10566400" cy="0"/>
          </a:xfrm>
          <a:prstGeom prst="line">
            <a:avLst/>
          </a:prstGeom>
          <a:noFill/>
          <a:ln w="12700">
            <a:solidFill>
              <a:srgbClr val="C9C3B6"/>
            </a:solidFill>
            <a:prstDash val="solid"/>
          </a:ln>
        </p:spPr>
      </p:sp>
      <p:pic>
        <p:nvPicPr>
          <p:cNvPr id="8" name="Image 1" descr="Warning">    </p:cNvPr>
          <p:cNvPicPr>
            <a:picLocks noChangeAspect="1"/>
          </p:cNvPicPr>
          <p:nvPr/>
        </p:nvPicPr>
        <p:blipFill>
          <a:blip r:embed="rId2"/>
          <a:srcRect l="-283" r="-283" t="0" b="0"/>
          <a:stretch/>
        </p:blipFill>
        <p:spPr>
          <a:xfrm>
            <a:off x="812800" y="2910681"/>
            <a:ext cx="223507" cy="254000"/>
          </a:xfrm>
          <a:prstGeom prst="rect">
            <a:avLst/>
          </a:prstGeom>
        </p:spPr>
      </p:pic>
      <p:sp>
        <p:nvSpPr>
          <p:cNvPr id="9" name="Text 5"/>
          <p:cNvSpPr/>
          <p:nvPr/>
        </p:nvSpPr>
        <p:spPr>
          <a:xfrm>
            <a:off x="1239507" y="2753258"/>
            <a:ext cx="10443884"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Skor sempurna aturan pada anomali berbasis aturan terjadi secara konstruksi, karena anomali itu dibuat dari aturan yang sama</a:t>
            </a:r>
            <a:endParaRPr lang="en-US" sz="1600" dirty="0"/>
          </a:p>
        </p:txBody>
      </p:sp>
      <p:sp>
        <p:nvSpPr>
          <p:cNvPr id="10" name="Shape 6"/>
          <p:cNvSpPr/>
          <p:nvPr/>
        </p:nvSpPr>
        <p:spPr>
          <a:xfrm>
            <a:off x="812800" y="3480860"/>
            <a:ext cx="10566400" cy="0"/>
          </a:xfrm>
          <a:prstGeom prst="line">
            <a:avLst/>
          </a:prstGeom>
          <a:noFill/>
          <a:ln w="12700">
            <a:solidFill>
              <a:srgbClr val="C9C3B6"/>
            </a:solidFill>
            <a:prstDash val="solid"/>
          </a:ln>
        </p:spPr>
      </p:sp>
      <p:pic>
        <p:nvPicPr>
          <p:cNvPr id="11" name="Image 2" descr="Warning">    </p:cNvPr>
          <p:cNvPicPr>
            <a:picLocks noChangeAspect="1"/>
          </p:cNvPicPr>
          <p:nvPr/>
        </p:nvPicPr>
        <p:blipFill>
          <a:blip r:embed="rId3"/>
          <a:srcRect l="0" r="0" t="0" b="0"/>
          <a:stretch/>
        </p:blipFill>
        <p:spPr>
          <a:xfrm>
            <a:off x="812800" y="3654822"/>
            <a:ext cx="254000" cy="254000"/>
          </a:xfrm>
          <a:prstGeom prst="rect">
            <a:avLst/>
          </a:prstGeom>
        </p:spPr>
      </p:pic>
      <p:sp>
        <p:nvSpPr>
          <p:cNvPr id="12" name="Text 7"/>
          <p:cNvSpPr/>
          <p:nvPr/>
        </p:nvSpPr>
        <p:spPr>
          <a:xfrm>
            <a:off x="1270000" y="3639610"/>
            <a:ext cx="438896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Anomali halus didefinisikan oleh penulis</a:t>
            </a:r>
            <a:endParaRPr lang="en-US" sz="1600" dirty="0"/>
          </a:p>
        </p:txBody>
      </p:sp>
      <p:sp>
        <p:nvSpPr>
          <p:cNvPr id="13" name="Shape 8"/>
          <p:cNvSpPr/>
          <p:nvPr/>
        </p:nvSpPr>
        <p:spPr>
          <a:xfrm>
            <a:off x="812800" y="4082790"/>
            <a:ext cx="10566400" cy="0"/>
          </a:xfrm>
          <a:prstGeom prst="line">
            <a:avLst/>
          </a:prstGeom>
          <a:noFill/>
          <a:ln w="12700">
            <a:solidFill>
              <a:srgbClr val="C9C3B6"/>
            </a:solidFill>
            <a:prstDash val="solid"/>
          </a:ln>
        </p:spPr>
      </p:sp>
      <p:pic>
        <p:nvPicPr>
          <p:cNvPr id="14" name="Image 3" descr="Warning">    </p:cNvPr>
          <p:cNvPicPr>
            <a:picLocks noChangeAspect="1"/>
          </p:cNvPicPr>
          <p:nvPr/>
        </p:nvPicPr>
        <p:blipFill>
          <a:blip r:embed="rId4"/>
          <a:srcRect l="0" r="0" t="0" b="0"/>
          <a:stretch/>
        </p:blipFill>
        <p:spPr>
          <a:xfrm>
            <a:off x="812800" y="4256751"/>
            <a:ext cx="254000" cy="254000"/>
          </a:xfrm>
          <a:prstGeom prst="rect">
            <a:avLst/>
          </a:prstGeom>
        </p:spPr>
      </p:pic>
      <p:sp>
        <p:nvSpPr>
          <p:cNvPr id="15" name="Text 9"/>
          <p:cNvSpPr/>
          <p:nvPr/>
        </p:nvSpPr>
        <p:spPr>
          <a:xfrm>
            <a:off x="1270000" y="4241540"/>
            <a:ext cx="627673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Data dari satu perguruan tinggi dengan tiga program studi</a:t>
            </a:r>
            <a:endParaRPr lang="en-US" sz="1600" dirty="0"/>
          </a:p>
        </p:txBody>
      </p:sp>
      <p:sp>
        <p:nvSpPr>
          <p:cNvPr id="16" name="Shape 10"/>
          <p:cNvSpPr/>
          <p:nvPr/>
        </p:nvSpPr>
        <p:spPr>
          <a:xfrm>
            <a:off x="812800" y="4684713"/>
            <a:ext cx="10566400" cy="0"/>
          </a:xfrm>
          <a:prstGeom prst="line">
            <a:avLst/>
          </a:prstGeom>
          <a:noFill/>
          <a:ln w="12700">
            <a:solidFill>
              <a:srgbClr val="C9C3B6"/>
            </a:solidFill>
            <a:prstDash val="solid"/>
          </a:ln>
        </p:spPr>
      </p:sp>
      <p:sp>
        <p:nvSpPr>
          <p:cNvPr id="17" name="Shape 11"/>
          <p:cNvSpPr/>
          <p:nvPr/>
        </p:nvSpPr>
        <p:spPr>
          <a:xfrm>
            <a:off x="812800" y="5286640"/>
            <a:ext cx="10566400" cy="0"/>
          </a:xfrm>
          <a:prstGeom prst="line">
            <a:avLst/>
          </a:prstGeom>
          <a:noFill/>
          <a:ln w="12700">
            <a:solidFill>
              <a:srgbClr val="C9C3B6"/>
            </a:solidFill>
            <a:prstDash val="solid"/>
          </a:ln>
        </p:spPr>
      </p:sp>
      <p:pic>
        <p:nvPicPr>
          <p:cNvPr id="18" name="Image 4" descr="Warning">    </p:cNvPr>
          <p:cNvPicPr>
            <a:picLocks noChangeAspect="1"/>
          </p:cNvPicPr>
          <p:nvPr/>
        </p:nvPicPr>
        <p:blipFill>
          <a:blip r:embed="rId5"/>
          <a:srcRect l="0" r="0" t="0" b="0"/>
          <a:stretch/>
        </p:blipFill>
        <p:spPr>
          <a:xfrm>
            <a:off x="812800" y="4858680"/>
            <a:ext cx="254000" cy="254000"/>
          </a:xfrm>
          <a:prstGeom prst="rect">
            <a:avLst/>
          </a:prstGeom>
        </p:spPr>
      </p:pic>
      <p:sp>
        <p:nvSpPr>
          <p:cNvPr id="19" name="Text 12"/>
          <p:cNvSpPr/>
          <p:nvPr/>
        </p:nvSpPr>
        <p:spPr>
          <a:xfrm>
            <a:off x="1270000" y="4843463"/>
            <a:ext cx="877101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Hanya 348 data mata kuliah, yang menjelaskan variansi besar pada autoencoder</a:t>
            </a:r>
            <a:endParaRPr lang="en-US" sz="1600" dirty="0"/>
          </a:p>
        </p:txBody>
      </p:sp>
      <p:sp>
        <p:nvSpPr>
          <p:cNvPr id="20"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13 · Deteksi anomali kepatuhan pada data PDDIKTI</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B4501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BF7F2"/>
                </a:solidFill>
                <a:latin typeface="IBM Plex Sans" pitchFamily="34" charset="0"/>
                <a:ea typeface="IBM Plex Sans" pitchFamily="34" charset="-122"/>
                <a:cs typeface="IBM Plex Sans" pitchFamily="34" charset="-120"/>
              </a:rPr>
              <a:t>KESIMPULAN</a:t>
            </a:r>
            <a:endParaRPr lang="en-US" sz="1200" dirty="0"/>
          </a:p>
        </p:txBody>
      </p:sp>
      <p:sp>
        <p:nvSpPr>
          <p:cNvPr id="3" name="Text 1"/>
          <p:cNvSpPr/>
          <p:nvPr>
            <p:ph type="title"/>
          </p:nvPr>
        </p:nvSpPr>
        <p:spPr>
          <a:xfrm>
            <a:off x="812800" y="1229320"/>
            <a:ext cx="10203180" cy="15341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BF7F2"/>
                </a:solidFill>
                <a:latin typeface="Source Serif 4" pitchFamily="18" charset="0"/>
                <a:ea typeface="Source Serif 4" pitchFamily="18" charset="-122"/>
                <a:cs typeface="Source Serif 4" pitchFamily="18" charset="-120"/>
              </a:rPr>
              <a:t>Deteksi berbasis aturan dan machine learning saling melengkapi untuk pemeriksaan kepatuhan data akademik.</a:t>
            </a:r>
            <a:endParaRPr lang="en-US" sz="3600" dirty="0"/>
          </a:p>
        </p:txBody>
      </p:sp>
      <p:sp>
        <p:nvSpPr>
          <p:cNvPr id="4" name="Text 2"/>
          <p:cNvSpPr/>
          <p:nvPr/>
        </p:nvSpPr>
        <p:spPr>
          <a:xfrm>
            <a:off x="812800" y="47380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BF7F2"/>
                </a:solidFill>
                <a:latin typeface="IBM Plex Sans" pitchFamily="34" charset="0"/>
                <a:ea typeface="IBM Plex Sans" pitchFamily="34" charset="-122"/>
                <a:cs typeface="IBM Plex Sans" pitchFamily="34" charset="-120"/>
              </a:rPr>
              <a:t>PENELITIAN LANJUTAN</a:t>
            </a:r>
            <a:endParaRPr lang="en-US" sz="1200" dirty="0"/>
          </a:p>
        </p:txBody>
      </p:sp>
      <p:sp>
        <p:nvSpPr>
          <p:cNvPr id="5" name="Shape 3"/>
          <p:cNvSpPr/>
          <p:nvPr/>
        </p:nvSpPr>
        <p:spPr>
          <a:xfrm>
            <a:off x="812800" y="5113338"/>
            <a:ext cx="3386667" cy="0"/>
          </a:xfrm>
          <a:prstGeom prst="line">
            <a:avLst/>
          </a:prstGeom>
          <a:noFill/>
          <a:ln w="19050">
            <a:solidFill>
              <a:srgbClr val="FBF7F2"/>
            </a:solidFill>
            <a:prstDash val="solid"/>
          </a:ln>
        </p:spPr>
      </p:sp>
      <p:sp>
        <p:nvSpPr>
          <p:cNvPr id="6" name="Text 4"/>
          <p:cNvSpPr/>
          <p:nvPr/>
        </p:nvSpPr>
        <p:spPr>
          <a:xfrm>
            <a:off x="812800" y="5273146"/>
            <a:ext cx="348826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7F2"/>
                </a:solidFill>
                <a:latin typeface="IBM Plex Sans" pitchFamily="34" charset="0"/>
                <a:ea typeface="IBM Plex Sans" pitchFamily="34" charset="-122"/>
                <a:cs typeface="IBM Plex Sans" pitchFamily="34" charset="-120"/>
              </a:rPr>
              <a:t>Validasi pada pelanggaran yang terjadi secara alami</a:t>
            </a:r>
            <a:endParaRPr lang="en-US" sz="1600" dirty="0"/>
          </a:p>
        </p:txBody>
      </p:sp>
      <p:sp>
        <p:nvSpPr>
          <p:cNvPr id="7" name="Shape 5"/>
          <p:cNvSpPr/>
          <p:nvPr/>
        </p:nvSpPr>
        <p:spPr>
          <a:xfrm>
            <a:off x="4402667" y="5113338"/>
            <a:ext cx="3386667" cy="0"/>
          </a:xfrm>
          <a:prstGeom prst="line">
            <a:avLst/>
          </a:prstGeom>
          <a:noFill/>
          <a:ln w="19050">
            <a:solidFill>
              <a:srgbClr val="FBF7F2"/>
            </a:solidFill>
            <a:prstDash val="solid"/>
          </a:ln>
        </p:spPr>
      </p:sp>
      <p:sp>
        <p:nvSpPr>
          <p:cNvPr id="8" name="Text 6"/>
          <p:cNvSpPr/>
          <p:nvPr/>
        </p:nvSpPr>
        <p:spPr>
          <a:xfrm>
            <a:off x="4402667" y="5273146"/>
            <a:ext cx="348826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7F2"/>
                </a:solidFill>
                <a:latin typeface="IBM Plex Sans" pitchFamily="34" charset="0"/>
                <a:ea typeface="IBM Plex Sans" pitchFamily="34" charset="-122"/>
                <a:cs typeface="IBM Plex Sans" pitchFamily="34" charset="-120"/>
              </a:rPr>
              <a:t>Perluasan ke perguruan tinggi lain</a:t>
            </a:r>
            <a:endParaRPr lang="en-US" sz="1600" dirty="0"/>
          </a:p>
        </p:txBody>
      </p:sp>
      <p:sp>
        <p:nvSpPr>
          <p:cNvPr id="9" name="Shape 7"/>
          <p:cNvSpPr/>
          <p:nvPr/>
        </p:nvSpPr>
        <p:spPr>
          <a:xfrm>
            <a:off x="7992534" y="5113338"/>
            <a:ext cx="3386667" cy="0"/>
          </a:xfrm>
          <a:prstGeom prst="line">
            <a:avLst/>
          </a:prstGeom>
          <a:noFill/>
          <a:ln w="19050">
            <a:solidFill>
              <a:srgbClr val="FBF7F2"/>
            </a:solidFill>
            <a:prstDash val="solid"/>
          </a:ln>
        </p:spPr>
      </p:sp>
      <p:sp>
        <p:nvSpPr>
          <p:cNvPr id="10" name="Text 8"/>
          <p:cNvSpPr/>
          <p:nvPr/>
        </p:nvSpPr>
        <p:spPr>
          <a:xfrm>
            <a:off x="7992534" y="5273146"/>
            <a:ext cx="348826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7F2"/>
                </a:solidFill>
                <a:latin typeface="IBM Plex Sans" pitchFamily="34" charset="0"/>
                <a:ea typeface="IBM Plex Sans" pitchFamily="34" charset="-122"/>
                <a:cs typeface="IBM Plex Sans" pitchFamily="34" charset="-120"/>
              </a:rPr>
              <a:t>Entitas lain seperti riwayat pendidikan dan periode perkuliahan</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F7F2"/>
                </a:solidFill>
                <a:latin typeface="IBM Plex Sans" pitchFamily="34" charset="0"/>
                <a:ea typeface="IBM Plex Sans" pitchFamily="34" charset="-122"/>
                <a:cs typeface="IBM Plex Sans" pitchFamily="34" charset="-120"/>
              </a:rPr>
              <a:t>14 · Deteksi anomali kepatuhan pada data PDDIKTI</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7F6F2"/>
                </a:solidFill>
                <a:latin typeface="Source Serif 4" pitchFamily="18" charset="0"/>
                <a:ea typeface="Source Serif 4" pitchFamily="18" charset="-122"/>
                <a:cs typeface="Source Serif 4" pitchFamily="18" charset="-120"/>
              </a:rPr>
              <a:t>Terima kasih</a:t>
            </a:r>
            <a:endParaRPr lang="en-US" sz="6000" dirty="0"/>
          </a:p>
        </p:txBody>
      </p:sp>
      <p:sp>
        <p:nvSpPr>
          <p:cNvPr id="3" name="Text 1"/>
          <p:cNvSpPr/>
          <p:nvPr/>
        </p:nvSpPr>
        <p:spPr>
          <a:xfrm>
            <a:off x="812800" y="185420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0A36B"/>
                </a:solidFill>
                <a:latin typeface="IBM Plex Sans" pitchFamily="34" charset="0"/>
                <a:ea typeface="IBM Plex Sans" pitchFamily="34" charset="-122"/>
                <a:cs typeface="IBM Plex Sans" pitchFamily="34" charset="-120"/>
              </a:rPr>
              <a:t>Tanya jawab dan diskusi</a:t>
            </a:r>
            <a:endParaRPr lang="en-US" sz="2200" dirty="0"/>
          </a:p>
        </p:txBody>
      </p:sp>
      <p:sp>
        <p:nvSpPr>
          <p:cNvPr id="4" name="Shape 2"/>
          <p:cNvSpPr/>
          <p:nvPr/>
        </p:nvSpPr>
        <p:spPr>
          <a:xfrm>
            <a:off x="812800" y="5337907"/>
            <a:ext cx="3318933" cy="0"/>
          </a:xfrm>
          <a:prstGeom prst="line">
            <a:avLst/>
          </a:prstGeom>
          <a:noFill/>
          <a:ln w="12700">
            <a:solidFill>
              <a:srgbClr val="3A4A6B"/>
            </a:solidFill>
            <a:prstDash val="solid"/>
          </a:ln>
        </p:spPr>
      </p:sp>
      <p:sp>
        <p:nvSpPr>
          <p:cNvPr id="5" name="Text 3"/>
          <p:cNvSpPr/>
          <p:nvPr/>
        </p:nvSpPr>
        <p:spPr>
          <a:xfrm>
            <a:off x="812800" y="5496657"/>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Benny Leonard Enrico Panggabean</a:t>
            </a:r>
            <a:endParaRPr lang="en-US" sz="1600" dirty="0"/>
          </a:p>
        </p:txBody>
      </p:sp>
      <p:sp>
        <p:nvSpPr>
          <p:cNvPr id="6" name="Text 4"/>
          <p:cNvSpPr/>
          <p:nvPr/>
        </p:nvSpPr>
        <p:spPr>
          <a:xfrm>
            <a:off x="812800" y="583188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bendo01@gmail.com</a:t>
            </a:r>
            <a:endParaRPr lang="en-US" sz="1200" dirty="0"/>
          </a:p>
        </p:txBody>
      </p:sp>
      <p:sp>
        <p:nvSpPr>
          <p:cNvPr id="7" name="Shape 5"/>
          <p:cNvSpPr/>
          <p:nvPr/>
        </p:nvSpPr>
        <p:spPr>
          <a:xfrm>
            <a:off x="4436533" y="5337907"/>
            <a:ext cx="3318933" cy="0"/>
          </a:xfrm>
          <a:prstGeom prst="line">
            <a:avLst/>
          </a:prstGeom>
          <a:noFill/>
          <a:ln w="12700">
            <a:solidFill>
              <a:srgbClr val="3A4A6B"/>
            </a:solidFill>
            <a:prstDash val="solid"/>
          </a:ln>
        </p:spPr>
      </p:sp>
      <p:sp>
        <p:nvSpPr>
          <p:cNvPr id="8" name="Text 6"/>
          <p:cNvSpPr/>
          <p:nvPr/>
        </p:nvSpPr>
        <p:spPr>
          <a:xfrm>
            <a:off x="4436533" y="5496657"/>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Amil Ahmad Ilham</a:t>
            </a:r>
            <a:endParaRPr lang="en-US" sz="1600" dirty="0"/>
          </a:p>
        </p:txBody>
      </p:sp>
      <p:sp>
        <p:nvSpPr>
          <p:cNvPr id="9" name="Text 7"/>
          <p:cNvSpPr/>
          <p:nvPr/>
        </p:nvSpPr>
        <p:spPr>
          <a:xfrm>
            <a:off x="4436533" y="583188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amil@unhas.ac.id</a:t>
            </a:r>
            <a:endParaRPr lang="en-US" sz="1200" dirty="0"/>
          </a:p>
        </p:txBody>
      </p:sp>
      <p:sp>
        <p:nvSpPr>
          <p:cNvPr id="10" name="Shape 8"/>
          <p:cNvSpPr/>
          <p:nvPr/>
        </p:nvSpPr>
        <p:spPr>
          <a:xfrm>
            <a:off x="8060267" y="5337907"/>
            <a:ext cx="3318933" cy="0"/>
          </a:xfrm>
          <a:prstGeom prst="line">
            <a:avLst/>
          </a:prstGeom>
          <a:noFill/>
          <a:ln w="12700">
            <a:solidFill>
              <a:srgbClr val="3A4A6B"/>
            </a:solidFill>
            <a:prstDash val="solid"/>
          </a:ln>
        </p:spPr>
      </p:sp>
      <p:sp>
        <p:nvSpPr>
          <p:cNvPr id="11" name="Text 9"/>
          <p:cNvSpPr/>
          <p:nvPr/>
        </p:nvSpPr>
        <p:spPr>
          <a:xfrm>
            <a:off x="8060267" y="5496657"/>
            <a:ext cx="341850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Novy N. R. A. Mokobombang</a:t>
            </a:r>
            <a:endParaRPr lang="en-US" sz="1600" dirty="0"/>
          </a:p>
        </p:txBody>
      </p:sp>
      <p:sp>
        <p:nvSpPr>
          <p:cNvPr id="12" name="Text 10"/>
          <p:cNvSpPr/>
          <p:nvPr/>
        </p:nvSpPr>
        <p:spPr>
          <a:xfrm>
            <a:off x="8060267" y="5831880"/>
            <a:ext cx="34185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novy@unhas.ac.id</a:t>
            </a:r>
            <a:endParaRPr lang="en-US" sz="1200" dirty="0"/>
          </a:p>
        </p:txBody>
      </p:sp>
    </p:spTree>
  </p:cSld>
  <p:clrMapOvr>
    <a:masterClrMapping/>
  </p:clrMapOvr>
</p:sld>
</file>

<file path=ppt/theme/theme1.xml><?xml version="1.0" encoding="utf-8"?>
<a:theme xmlns:a="http://schemas.openxmlformats.org/drawingml/2006/main" name="Deteksi Anomali Kepatuhan PDDIKTI">
  <a:themeElements>
    <a:clrScheme name="Deteksi Anomali Kepatuhan PDDIKTI">
      <a:dk1>
        <a:srgbClr val="14213D"/>
      </a:dk1>
      <a:lt1>
        <a:srgbClr val="F7F6F2"/>
      </a:lt1>
      <a:dk2>
        <a:srgbClr val="4D566A"/>
      </a:dk2>
      <a:lt2>
        <a:srgbClr val="E0E1E0"/>
      </a:lt2>
      <a:accent1>
        <a:srgbClr val="B4501A"/>
      </a:accent1>
      <a:accent2>
        <a:srgbClr val="2B5C9E"/>
      </a:accent2>
      <a:accent3>
        <a:srgbClr val="F0A36B"/>
      </a:accent3>
      <a:accent4>
        <a:srgbClr val="3F4A5C"/>
      </a:accent4>
      <a:accent5>
        <a:srgbClr val="C9D3E3"/>
      </a:accent5>
      <a:accent6>
        <a:srgbClr val="6B7280"/>
      </a:accent6>
      <a:hlink>
        <a:srgbClr val="0563C1"/>
      </a:hlink>
      <a:folHlink>
        <a:srgbClr val="954F72"/>
      </a:folHlink>
    </a:clrScheme>
    <a:fontScheme name="Deteksi Anomali Kepatuhan PDDIKTI">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Deteksi Anomali Kepatuhan PDDIKTI</dc:title>
  <dc:subject/>
  <dc:creator/>
  <cp:lastModifiedBy/>
  <cp:revision>1</cp:revision>
  <dcterms:created xsi:type="dcterms:W3CDTF">2026-10-24T07:23:09Z</dcterms:created>
  <dcterms:modified xsi:type="dcterms:W3CDTF">2026-10-24T07:23:09Z</dcterms:modified>
</cp:coreProperties>
</file>