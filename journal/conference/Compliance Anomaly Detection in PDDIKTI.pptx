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talk is about detecting compliance anomalies in the academic data that Indonesian universities report to PDDIKTI, using only PDDIKTI data, and comparing explicit validation rules with unsupervised machine learning detectors.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Institutions are required to implement internal quality assurance and report to PDDIKTI, under Permendikbudristek 53/2023 and 39/2025. Submission goes through Feeder, which validates records before synchronization. The accuracy of these data affects accreditation, performance monitoring and public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Rule-based validation catches violations that can be written down. It cannot catch records that satisfy every threshold but are unusual in combination, and every new error type needs a new rule. Unsupervised detectors could complement rules because they need no labels, but they have not been studied systematically on this kind of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Contributions: a rule set derived from the Feeder guide and mapped to PDDIKTI attributes; an evaluation protocol based on injected anomalies; and an empirical comparison of rules, Isolation Forest, Local Outlier Factor, an autoencoder, and their combination.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are replicated from the Feeder web service into a relational store. The first row shows the three entities used in the experiments. Teaching activities: 1,765 in total, of which 1,636 have both planned and realized meetings and are used in the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rules come from the built-in validation of the Feeder application and can all be evaluated on PDDIKTI data alone. Each rule is a predicate over one record; a record is flagged when any rule fires, and the violated rules are kept as the explanation. The experiments cover three entities where rules are directly evaluable: student-semester records, courses, and lecturer teaching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are evaluated per entity table, so no join with an external system is needed. In parallel, three unsupervised detectors score numeric features from the same tables. The combined detector puts any record flagged by a rule first and orders the rest by the mean percentile rank of the three ML scores; it flags a record when a rule fires or when it is among the top-k ML-ranked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detectors are unsupervised and fitted separately for each entity on the unlabeled data, after standardizing the features. Isolation Forest uses 200 trees, LOF uses 20 neighbors, and the autoencoder is a scikit-learn multilayer perceptron with three hidden layers of sizes 2d, floor(d/2)+1 and 2d for d input features, trained for at most 400 iterations.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extracted data already pass the Feeder validation: no record in the three entities violates any rule. So ground truth is created by injecting anomalies into a copy of the data. Besides rule violations, two further groups test the ML detectors beyond the rules: records within every threshold that deviate in combination, and records with values shifted by a multiple of the attribute standard deviation. Rules are scored with precision, recall and F1; ML detectors with AUC and Precision at k, where k is the number of injected anomalies. Because the anomalies are synthetic, this measures detection capability under controlled conditions, not the prevalence of real violations.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Student-semester: the combined detector has the best AUC, 0.982, and best P@k, 0.823. Course: rules and the combined detector are perfect, but remember that rule-based anomalies are generated from the same rules, so this is by construction. The autoencoder on courses has large variance because there are only 348 course records. Teaching: Isolation Forest gives the best AUC, 0.979, and the combined detector the best P@k, 0.820; rules alone reach only 0.750 AUC because half the injected teaching anomalies are subtle.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Subtle anomalies satisfy every rule, so this is the informative comparison. Rules flag essentially none of them; their small nonzero values come from arbitrary tie-breaking of the binary rule score when the top-k set is filled. For teaching records, Isolation Forest and LOF recover about two thirds. For student-semester records the best detector, the autoencoder, recovers 39 percent, and Isolation Forest almost none. The line under each chart gives top-k recall for rule-based anomalies: rules detect all of them, by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The combined detector has the best AUC for student-semester records because rules rank explicit violations first, but it recovers little of the subtle anomalies in that entity. For teaching records, Isolation Forest and LOF recover about two thirds of the subtle anomalies. For student-semester records the best is the autoencoder at 39 percent. Overall, rule-based and ML detection are complementary.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conclusions are limited by the controlled setting. Validation on naturally occurring violations remains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detect explicit violations exactly but miss deviations that satisfy all thresholds. Isolation Forest, LOF and the autoencoder recover part of those deviations, to an extent that depends on the entity. Next steps: naturally occurring violations, more institutions, and the remaining entities.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36B"/>
                </a:solidFill>
                <a:latin typeface="IBM Plex Sans" pitchFamily="34" charset="0"/>
                <a:ea typeface="IBM Plex Sans" pitchFamily="34" charset="-122"/>
                <a:cs typeface="IBM Plex Sans" pitchFamily="34" charset="-120"/>
              </a:rPr>
              <a:t>PDDIKTI · REGULATORY COMPLIANCE · ANOMALY DETECTION</a:t>
            </a:r>
            <a:endParaRPr lang="en-US" sz="1200" dirty="0"/>
          </a:p>
        </p:txBody>
      </p:sp>
      <p:sp>
        <p:nvSpPr>
          <p:cNvPr id="3" name="Text 1"/>
          <p:cNvSpPr/>
          <p:nvPr>
            <p:ph type="title"/>
          </p:nvPr>
        </p:nvSpPr>
        <p:spPr>
          <a:xfrm>
            <a:off x="812800" y="1280120"/>
            <a:ext cx="9810750" cy="22606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7F6F2"/>
                </a:solidFill>
                <a:latin typeface="Source Serif 4" pitchFamily="18" charset="0"/>
                <a:ea typeface="Source Serif 4" pitchFamily="18" charset="-122"/>
                <a:cs typeface="Source Serif 4" pitchFamily="18" charset="-120"/>
              </a:rPr>
              <a:t>Compliance Anomaly Detection in Higher Education Academic Data Using Rule-Based and Machine Learning Methods</a:t>
            </a:r>
            <a:endParaRPr lang="en-US" sz="4000" dirty="0"/>
          </a:p>
        </p:txBody>
      </p:sp>
      <p:sp>
        <p:nvSpPr>
          <p:cNvPr id="4" name="Text 2"/>
          <p:cNvSpPr/>
          <p:nvPr/>
        </p:nvSpPr>
        <p:spPr>
          <a:xfrm>
            <a:off x="812800" y="5445853"/>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2"/>
                </a:solidFill>
                <a:latin typeface="IBM Plex Sans" pitchFamily="34" charset="0"/>
                <a:ea typeface="IBM Plex Sans" pitchFamily="34" charset="-122"/>
                <a:cs typeface="IBM Plex Sans" pitchFamily="34" charset="-120"/>
              </a:rPr>
              <a:t>Benny Leonard Enrico Panggabean · Amil Ahmad Ilham · Novy N. R. A. Mokobombang</a:t>
            </a:r>
            <a:endParaRPr lang="en-US" sz="1600" dirty="0"/>
          </a:p>
        </p:txBody>
      </p:sp>
      <p:sp>
        <p:nvSpPr>
          <p:cNvPr id="5"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Informatics Engineering, Faculty of Engineering, Universitas Hasanuddin, Makassar, Indonesia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A"/>
                </a:solidFill>
                <a:latin typeface="IBM Plex Sans" pitchFamily="34" charset="0"/>
                <a:ea typeface="IBM Plex Sans" pitchFamily="34" charset="-122"/>
                <a:cs typeface="IBM Plex Sans" pitchFamily="34" charset="-120"/>
              </a:rPr>
              <a:t>MOTIVATION</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Reported data carry real stakes</a:t>
            </a:r>
            <a:endParaRPr lang="en-US" sz="3600" dirty="0"/>
          </a:p>
        </p:txBody>
      </p:sp>
      <p:sp>
        <p:nvSpPr>
          <p:cNvPr id="4" name="Shape 2"/>
          <p:cNvSpPr/>
          <p:nvPr/>
        </p:nvSpPr>
        <p:spPr>
          <a:xfrm>
            <a:off x="819150" y="1992578"/>
            <a:ext cx="3373967" cy="3843073"/>
          </a:xfrm>
          <a:prstGeom prst="roundRect">
            <a:avLst>
              <a:gd name="adj" fmla="val 2823"/>
            </a:avLst>
          </a:prstGeom>
          <a:solidFill>
            <a:srgbClr val="FDFCFA"/>
          </a:solidFill>
          <a:ln w="12700">
            <a:solidFill>
              <a:srgbClr val="E2DED5"/>
            </a:solidFill>
            <a:prstDash val="solid"/>
          </a:ln>
        </p:spPr>
      </p:sp>
      <p:sp>
        <p:nvSpPr>
          <p:cNvPr id="5" name="Text 3"/>
          <p:cNvSpPr/>
          <p:nvPr/>
        </p:nvSpPr>
        <p:spPr>
          <a:xfrm>
            <a:off x="1130300" y="2303728"/>
            <a:ext cx="28342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01A"/>
                </a:solidFill>
                <a:latin typeface="IBM Plex Sans" pitchFamily="34" charset="0"/>
                <a:ea typeface="IBM Plex Sans" pitchFamily="34" charset="-122"/>
                <a:cs typeface="IBM Plex Sans" pitchFamily="34" charset="-120"/>
              </a:rPr>
              <a:t>01</a:t>
            </a:r>
            <a:endParaRPr lang="en-US" sz="1200" dirty="0"/>
          </a:p>
        </p:txBody>
      </p:sp>
      <p:sp>
        <p:nvSpPr>
          <p:cNvPr id="6" name="Text 4"/>
          <p:cNvSpPr/>
          <p:nvPr/>
        </p:nvSpPr>
        <p:spPr>
          <a:xfrm>
            <a:off x="1130300" y="2644048"/>
            <a:ext cx="2834217" cy="695854"/>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Mandatory reporting</a:t>
            </a:r>
            <a:endParaRPr lang="en-US" sz="2200" dirty="0"/>
          </a:p>
        </p:txBody>
      </p:sp>
      <p:sp>
        <p:nvSpPr>
          <p:cNvPr id="7" name="Text 5"/>
          <p:cNvSpPr/>
          <p:nvPr/>
        </p:nvSpPr>
        <p:spPr>
          <a:xfrm>
            <a:off x="1130300" y="3441502"/>
            <a:ext cx="2834217" cy="1447535"/>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Indonesian institutions must run internal quality assurance and report academic data to the national database PDDIKTI.</a:t>
            </a:r>
            <a:endParaRPr lang="en-US" sz="1600" dirty="0"/>
          </a:p>
        </p:txBody>
      </p:sp>
      <p:sp>
        <p:nvSpPr>
          <p:cNvPr id="8" name="Shape 6"/>
          <p:cNvSpPr/>
          <p:nvPr/>
        </p:nvSpPr>
        <p:spPr>
          <a:xfrm>
            <a:off x="4409017" y="1992578"/>
            <a:ext cx="3373967" cy="3843073"/>
          </a:xfrm>
          <a:prstGeom prst="roundRect">
            <a:avLst>
              <a:gd name="adj" fmla="val 2823"/>
            </a:avLst>
          </a:prstGeom>
          <a:solidFill>
            <a:srgbClr val="FDFCFA"/>
          </a:solidFill>
          <a:ln w="12700">
            <a:solidFill>
              <a:srgbClr val="E2DED5"/>
            </a:solidFill>
            <a:prstDash val="solid"/>
          </a:ln>
        </p:spPr>
      </p:sp>
      <p:sp>
        <p:nvSpPr>
          <p:cNvPr id="9" name="Text 7"/>
          <p:cNvSpPr/>
          <p:nvPr/>
        </p:nvSpPr>
        <p:spPr>
          <a:xfrm>
            <a:off x="4720167" y="2303728"/>
            <a:ext cx="28342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01A"/>
                </a:solidFill>
                <a:latin typeface="IBM Plex Sans" pitchFamily="34" charset="0"/>
                <a:ea typeface="IBM Plex Sans" pitchFamily="34" charset="-122"/>
                <a:cs typeface="IBM Plex Sans" pitchFamily="34" charset="-120"/>
              </a:rPr>
              <a:t>02</a:t>
            </a:r>
            <a:endParaRPr lang="en-US" sz="1200" dirty="0"/>
          </a:p>
        </p:txBody>
      </p:sp>
      <p:sp>
        <p:nvSpPr>
          <p:cNvPr id="10" name="Text 8"/>
          <p:cNvSpPr/>
          <p:nvPr/>
        </p:nvSpPr>
        <p:spPr>
          <a:xfrm>
            <a:off x="4720167" y="2644048"/>
            <a:ext cx="2834217"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Feeder validation</a:t>
            </a:r>
            <a:endParaRPr lang="en-US" sz="2200" dirty="0"/>
          </a:p>
        </p:txBody>
      </p:sp>
      <p:sp>
        <p:nvSpPr>
          <p:cNvPr id="11" name="Text 9"/>
          <p:cNvSpPr/>
          <p:nvPr/>
        </p:nvSpPr>
        <p:spPr>
          <a:xfrm>
            <a:off x="4720167" y="3106275"/>
            <a:ext cx="2834217" cy="116310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Data are submitted through the Feeder application, which applies validation rules before synchronization.</a:t>
            </a:r>
            <a:endParaRPr lang="en-US" sz="1600" dirty="0"/>
          </a:p>
        </p:txBody>
      </p:sp>
      <p:sp>
        <p:nvSpPr>
          <p:cNvPr id="12" name="Shape 10"/>
          <p:cNvSpPr/>
          <p:nvPr/>
        </p:nvSpPr>
        <p:spPr>
          <a:xfrm>
            <a:off x="7998884" y="1992578"/>
            <a:ext cx="3373967" cy="3843073"/>
          </a:xfrm>
          <a:prstGeom prst="roundRect">
            <a:avLst>
              <a:gd name="adj" fmla="val 2823"/>
            </a:avLst>
          </a:prstGeom>
          <a:solidFill>
            <a:srgbClr val="FDFCFA"/>
          </a:solidFill>
          <a:ln w="12700">
            <a:solidFill>
              <a:srgbClr val="E2DED5"/>
            </a:solidFill>
            <a:prstDash val="solid"/>
          </a:ln>
        </p:spPr>
      </p:sp>
      <p:sp>
        <p:nvSpPr>
          <p:cNvPr id="13" name="Text 11"/>
          <p:cNvSpPr/>
          <p:nvPr/>
        </p:nvSpPr>
        <p:spPr>
          <a:xfrm>
            <a:off x="8310034" y="2303728"/>
            <a:ext cx="28342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01A"/>
                </a:solidFill>
                <a:latin typeface="IBM Plex Sans" pitchFamily="34" charset="0"/>
                <a:ea typeface="IBM Plex Sans" pitchFamily="34" charset="-122"/>
                <a:cs typeface="IBM Plex Sans" pitchFamily="34" charset="-120"/>
              </a:rPr>
              <a:t>03</a:t>
            </a:r>
            <a:endParaRPr lang="en-US" sz="1200" dirty="0"/>
          </a:p>
        </p:txBody>
      </p:sp>
      <p:sp>
        <p:nvSpPr>
          <p:cNvPr id="14" name="Text 12"/>
          <p:cNvSpPr/>
          <p:nvPr/>
        </p:nvSpPr>
        <p:spPr>
          <a:xfrm>
            <a:off x="8310034" y="2644048"/>
            <a:ext cx="2834217"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Accuracy matters</a:t>
            </a:r>
            <a:endParaRPr lang="en-US" sz="2200" dirty="0"/>
          </a:p>
        </p:txBody>
      </p:sp>
      <p:sp>
        <p:nvSpPr>
          <p:cNvPr id="15" name="Text 13"/>
          <p:cNvSpPr/>
          <p:nvPr/>
        </p:nvSpPr>
        <p:spPr>
          <a:xfrm>
            <a:off x="8310034" y="3106275"/>
            <a:ext cx="2834217" cy="116310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Records that violate reporting rules weaken accreditation, performance monitoring and public accountability.</a:t>
            </a:r>
            <a:endParaRPr lang="en-US" sz="16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2 · Compliance anomaly detection in PDDIKTI data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A"/>
                </a:solidFill>
                <a:latin typeface="IBM Plex Sans" pitchFamily="34" charset="0"/>
                <a:ea typeface="IBM Plex Sans" pitchFamily="34" charset="-122"/>
                <a:cs typeface="IBM Plex Sans" pitchFamily="34" charset="-120"/>
              </a:rPr>
              <a:t>THE GAP</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What rules can and cannot catch</a:t>
            </a:r>
            <a:endParaRPr lang="en-US" sz="3600" dirty="0"/>
          </a:p>
        </p:txBody>
      </p:sp>
      <p:sp>
        <p:nvSpPr>
          <p:cNvPr id="4" name="Shape 2"/>
          <p:cNvSpPr/>
          <p:nvPr/>
        </p:nvSpPr>
        <p:spPr>
          <a:xfrm>
            <a:off x="819150" y="1992578"/>
            <a:ext cx="5168900" cy="1937808"/>
          </a:xfrm>
          <a:prstGeom prst="roundRect">
            <a:avLst>
              <a:gd name="adj" fmla="val 4915"/>
            </a:avLst>
          </a:prstGeom>
          <a:solidFill>
            <a:srgbClr val="FDFCFA"/>
          </a:solidFill>
          <a:ln w="12700">
            <a:solidFill>
              <a:srgbClr val="E2DED5"/>
            </a:solidFill>
            <a:prstDash val="solid"/>
          </a:ln>
        </p:spPr>
      </p:sp>
      <p:sp>
        <p:nvSpPr>
          <p:cNvPr id="5" name="Text 3"/>
          <p:cNvSpPr/>
          <p:nvPr/>
        </p:nvSpPr>
        <p:spPr>
          <a:xfrm>
            <a:off x="1130300" y="2303728"/>
            <a:ext cx="4682998"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Rules catch</a:t>
            </a:r>
            <a:endParaRPr lang="en-US" sz="2200" dirty="0"/>
          </a:p>
        </p:txBody>
      </p:sp>
      <p:sp>
        <p:nvSpPr>
          <p:cNvPr id="6" name="Text 4"/>
          <p:cNvSpPr/>
          <p:nvPr/>
        </p:nvSpPr>
        <p:spPr>
          <a:xfrm>
            <a:off x="1187958" y="2765955"/>
            <a:ext cx="4617720" cy="878681"/>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3F4A5C"/>
                </a:solidFill>
                <a:latin typeface="IBM Plex Sans" pitchFamily="34" charset="0"/>
                <a:ea typeface="IBM Plex Sans" pitchFamily="34" charset="-122"/>
                <a:cs typeface="IBM Plex Sans" pitchFamily="34" charset="-120"/>
              </a:rPr>
              <a:t>Explicit thresholds, e.g. GPA above 4.0</a:t>
            </a:r>
            <a:endParaRPr lang="en-US" sz="1600" dirty="0"/>
          </a:p>
          <a:p>
            <a:pPr algn="l" marL="196342" indent="-196342">
              <a:lnSpc>
                <a:spcPts val="2240"/>
              </a:lnSpc>
              <a:buSzPct val="100000"/>
              <a:buChar char="•"/>
            </a:pPr>
            <a:r>
              <a:rPr lang="en-US" sz="1600" dirty="0">
                <a:solidFill>
                  <a:srgbClr val="3F4A5C"/>
                </a:solidFill>
                <a:latin typeface="IBM Plex Sans" pitchFamily="34" charset="0"/>
                <a:ea typeface="IBM Plex Sans" pitchFamily="34" charset="-122"/>
                <a:cs typeface="IBM Plex Sans" pitchFamily="34" charset="-120"/>
              </a:rPr>
              <a:t>Semester credit load above 24</a:t>
            </a:r>
            <a:endParaRPr lang="en-US" sz="1600" dirty="0"/>
          </a:p>
          <a:p>
            <a:pPr algn="l" marL="196342" indent="-196342">
              <a:lnSpc>
                <a:spcPts val="2240"/>
              </a:lnSpc>
              <a:buSzPct val="100000"/>
              <a:buChar char="•"/>
            </a:pPr>
            <a:r>
              <a:rPr lang="en-US" sz="1600" dirty="0">
                <a:solidFill>
                  <a:srgbClr val="3F4A5C"/>
                </a:solidFill>
                <a:latin typeface="IBM Plex Sans" pitchFamily="34" charset="0"/>
                <a:ea typeface="IBM Plex Sans" pitchFamily="34" charset="-122"/>
                <a:cs typeface="IBM Plex Sans" pitchFamily="34" charset="-120"/>
              </a:rPr>
              <a:t>Exact, explainable results</a:t>
            </a:r>
            <a:endParaRPr lang="en-US" sz="1600" dirty="0"/>
          </a:p>
        </p:txBody>
      </p:sp>
      <p:sp>
        <p:nvSpPr>
          <p:cNvPr id="7" name="Shape 5"/>
          <p:cNvSpPr/>
          <p:nvPr/>
        </p:nvSpPr>
        <p:spPr>
          <a:xfrm>
            <a:off x="6203950" y="1992578"/>
            <a:ext cx="5168900" cy="1937808"/>
          </a:xfrm>
          <a:prstGeom prst="roundRect">
            <a:avLst>
              <a:gd name="adj" fmla="val 4915"/>
            </a:avLst>
          </a:prstGeom>
          <a:solidFill>
            <a:srgbClr val="FDFCFA"/>
          </a:solidFill>
          <a:ln w="12700">
            <a:solidFill>
              <a:srgbClr val="E2DED5"/>
            </a:solidFill>
            <a:prstDash val="solid"/>
          </a:ln>
        </p:spPr>
      </p:sp>
      <p:sp>
        <p:nvSpPr>
          <p:cNvPr id="8" name="Text 6"/>
          <p:cNvSpPr/>
          <p:nvPr/>
        </p:nvSpPr>
        <p:spPr>
          <a:xfrm>
            <a:off x="6515100" y="2303728"/>
            <a:ext cx="4682998"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Rules miss</a:t>
            </a:r>
            <a:endParaRPr lang="en-US" sz="2200" dirty="0"/>
          </a:p>
        </p:txBody>
      </p:sp>
      <p:sp>
        <p:nvSpPr>
          <p:cNvPr id="9" name="Text 7"/>
          <p:cNvSpPr/>
          <p:nvPr/>
        </p:nvSpPr>
        <p:spPr>
          <a:xfrm>
            <a:off x="6572758" y="2765955"/>
            <a:ext cx="4617720" cy="878681"/>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3F4A5C"/>
                </a:solidFill>
                <a:latin typeface="IBM Plex Sans" pitchFamily="34" charset="0"/>
                <a:ea typeface="IBM Plex Sans" pitchFamily="34" charset="-122"/>
                <a:cs typeface="IBM Plex Sans" pitchFamily="34" charset="-120"/>
              </a:rPr>
              <a:t>Records within every threshold but unusual in combination</a:t>
            </a:r>
            <a:endParaRPr lang="en-US" sz="1600" dirty="0"/>
          </a:p>
          <a:p>
            <a:pPr algn="l" marL="196342" indent="-196342">
              <a:lnSpc>
                <a:spcPts val="2240"/>
              </a:lnSpc>
              <a:buSzPct val="100000"/>
              <a:buChar char="•"/>
            </a:pPr>
            <a:r>
              <a:rPr lang="en-US" sz="1600" dirty="0">
                <a:solidFill>
                  <a:srgbClr val="3F4A5C"/>
                </a:solidFill>
                <a:latin typeface="IBM Plex Sans" pitchFamily="34" charset="0"/>
                <a:ea typeface="IBM Plex Sans" pitchFamily="34" charset="-122"/>
                <a:cs typeface="IBM Plex Sans" pitchFamily="34" charset="-120"/>
              </a:rPr>
              <a:t>Any new error type, until a new rule is written</a:t>
            </a:r>
            <a:endParaRPr lang="en-US" sz="1600" dirty="0"/>
          </a:p>
        </p:txBody>
      </p:sp>
      <p:sp>
        <p:nvSpPr>
          <p:cNvPr id="10" name="Text 8"/>
          <p:cNvSpPr/>
          <p:nvPr/>
        </p:nvSpPr>
        <p:spPr>
          <a:xfrm>
            <a:off x="812800" y="4292336"/>
            <a:ext cx="981075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Unsupervised outlier detection needs no labeled violations, but its behavior on academic reporting data has received little systematic study.</a:t>
            </a:r>
            <a:endParaRPr lang="en-US" sz="16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3 · Compliance anomaly detection in PDDIKTI data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36B"/>
                </a:solidFill>
                <a:latin typeface="IBM Plex Sans" pitchFamily="34" charset="0"/>
                <a:ea typeface="IBM Plex Sans" pitchFamily="34" charset="-122"/>
                <a:cs typeface="IBM Plex Sans" pitchFamily="34" charset="-120"/>
              </a:rPr>
              <a:t>RESEARCH QUESTIONS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6F2"/>
                </a:solidFill>
                <a:latin typeface="Source Serif 4" pitchFamily="18" charset="0"/>
                <a:ea typeface="Source Serif 4" pitchFamily="18" charset="-122"/>
                <a:cs typeface="Source Serif 4" pitchFamily="18" charset="-120"/>
              </a:rPr>
              <a:t>Using PDDIKTI data only, we ask</a:t>
            </a:r>
            <a:endParaRPr lang="en-US" sz="3600" dirty="0"/>
          </a:p>
        </p:txBody>
      </p:sp>
      <p:sp>
        <p:nvSpPr>
          <p:cNvPr id="4" name="Shape 2"/>
          <p:cNvSpPr/>
          <p:nvPr/>
        </p:nvSpPr>
        <p:spPr>
          <a:xfrm>
            <a:off x="812800" y="1992578"/>
            <a:ext cx="10566400" cy="0"/>
          </a:xfrm>
          <a:prstGeom prst="line">
            <a:avLst/>
          </a:prstGeom>
          <a:noFill/>
          <a:ln w="12700">
            <a:solidFill>
              <a:srgbClr val="3A4A6B"/>
            </a:solidFill>
            <a:prstDash val="solid"/>
          </a:ln>
        </p:spPr>
      </p:sp>
      <p:sp>
        <p:nvSpPr>
          <p:cNvPr id="5" name="Text 3"/>
          <p:cNvSpPr/>
          <p:nvPr/>
        </p:nvSpPr>
        <p:spPr>
          <a:xfrm>
            <a:off x="812800" y="2202128"/>
            <a:ext cx="812800" cy="665427"/>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0A36B"/>
                </a:solidFill>
                <a:latin typeface="Source Serif 4" pitchFamily="18" charset="0"/>
                <a:ea typeface="Source Serif 4" pitchFamily="18" charset="-122"/>
                <a:cs typeface="Source Serif 4" pitchFamily="18" charset="-120"/>
              </a:rPr>
              <a:t>1</a:t>
            </a:r>
            <a:endParaRPr lang="en-US" sz="3600" dirty="0"/>
          </a:p>
        </p:txBody>
      </p:sp>
      <p:sp>
        <p:nvSpPr>
          <p:cNvPr id="6" name="Text 4"/>
          <p:cNvSpPr/>
          <p:nvPr/>
        </p:nvSpPr>
        <p:spPr>
          <a:xfrm>
            <a:off x="1879600" y="2354528"/>
            <a:ext cx="8361283" cy="360627"/>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7F6F2"/>
                </a:solidFill>
                <a:latin typeface="IBM Plex Sans" pitchFamily="34" charset="0"/>
                <a:ea typeface="IBM Plex Sans" pitchFamily="34" charset="-122"/>
                <a:cs typeface="IBM Plex Sans" pitchFamily="34" charset="-120"/>
              </a:rPr>
              <a:t>Which violations can the Feeder validation rules detect?</a:t>
            </a:r>
            <a:endParaRPr lang="en-US" sz="2200" dirty="0"/>
          </a:p>
        </p:txBody>
      </p:sp>
      <p:sp>
        <p:nvSpPr>
          <p:cNvPr id="7" name="Shape 5"/>
          <p:cNvSpPr/>
          <p:nvPr/>
        </p:nvSpPr>
        <p:spPr>
          <a:xfrm>
            <a:off x="812800" y="3051705"/>
            <a:ext cx="10566400" cy="0"/>
          </a:xfrm>
          <a:prstGeom prst="line">
            <a:avLst/>
          </a:prstGeom>
          <a:noFill/>
          <a:ln w="12700">
            <a:solidFill>
              <a:srgbClr val="3A4A6B"/>
            </a:solidFill>
            <a:prstDash val="solid"/>
          </a:ln>
        </p:spPr>
      </p:sp>
      <p:sp>
        <p:nvSpPr>
          <p:cNvPr id="8" name="Text 6"/>
          <p:cNvSpPr/>
          <p:nvPr/>
        </p:nvSpPr>
        <p:spPr>
          <a:xfrm>
            <a:off x="812800" y="3261255"/>
            <a:ext cx="812800" cy="665427"/>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0A36B"/>
                </a:solidFill>
                <a:latin typeface="Source Serif 4" pitchFamily="18" charset="0"/>
                <a:ea typeface="Source Serif 4" pitchFamily="18" charset="-122"/>
                <a:cs typeface="Source Serif 4" pitchFamily="18" charset="-120"/>
              </a:rPr>
              <a:t>2</a:t>
            </a:r>
            <a:endParaRPr lang="en-US" sz="3600" dirty="0"/>
          </a:p>
        </p:txBody>
      </p:sp>
      <p:sp>
        <p:nvSpPr>
          <p:cNvPr id="9" name="Text 7"/>
          <p:cNvSpPr/>
          <p:nvPr/>
        </p:nvSpPr>
        <p:spPr>
          <a:xfrm>
            <a:off x="1879600" y="3413655"/>
            <a:ext cx="9499600" cy="360627"/>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7F6F2"/>
                </a:solidFill>
                <a:latin typeface="IBM Plex Sans" pitchFamily="34" charset="0"/>
                <a:ea typeface="IBM Plex Sans" pitchFamily="34" charset="-122"/>
                <a:cs typeface="IBM Plex Sans" pitchFamily="34" charset="-120"/>
              </a:rPr>
              <a:t>How well do unsupervised detectors find records that satisfy all rules?</a:t>
            </a:r>
            <a:endParaRPr lang="en-US" sz="2200" dirty="0"/>
          </a:p>
        </p:txBody>
      </p:sp>
      <p:sp>
        <p:nvSpPr>
          <p:cNvPr id="10" name="Shape 8"/>
          <p:cNvSpPr/>
          <p:nvPr/>
        </p:nvSpPr>
        <p:spPr>
          <a:xfrm>
            <a:off x="812800" y="4110831"/>
            <a:ext cx="10566400" cy="0"/>
          </a:xfrm>
          <a:prstGeom prst="line">
            <a:avLst/>
          </a:prstGeom>
          <a:noFill/>
          <a:ln w="12700">
            <a:solidFill>
              <a:srgbClr val="3A4A6B"/>
            </a:solidFill>
            <a:prstDash val="solid"/>
          </a:ln>
        </p:spPr>
      </p:sp>
      <p:sp>
        <p:nvSpPr>
          <p:cNvPr id="11" name="Shape 9"/>
          <p:cNvSpPr/>
          <p:nvPr/>
        </p:nvSpPr>
        <p:spPr>
          <a:xfrm>
            <a:off x="812800" y="5169958"/>
            <a:ext cx="10566400" cy="0"/>
          </a:xfrm>
          <a:prstGeom prst="line">
            <a:avLst/>
          </a:prstGeom>
          <a:noFill/>
          <a:ln w="12700">
            <a:solidFill>
              <a:srgbClr val="3A4A6B"/>
            </a:solidFill>
            <a:prstDash val="solid"/>
          </a:ln>
        </p:spPr>
      </p:sp>
      <p:sp>
        <p:nvSpPr>
          <p:cNvPr id="12" name="Text 10"/>
          <p:cNvSpPr/>
          <p:nvPr/>
        </p:nvSpPr>
        <p:spPr>
          <a:xfrm>
            <a:off x="812800" y="4320381"/>
            <a:ext cx="812800" cy="665427"/>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0A36B"/>
                </a:solidFill>
                <a:latin typeface="Source Serif 4" pitchFamily="18" charset="0"/>
                <a:ea typeface="Source Serif 4" pitchFamily="18" charset="-122"/>
                <a:cs typeface="Source Serif 4" pitchFamily="18" charset="-120"/>
              </a:rPr>
              <a:t>3</a:t>
            </a:r>
            <a:endParaRPr lang="en-US" sz="3600" dirty="0"/>
          </a:p>
        </p:txBody>
      </p:sp>
      <p:sp>
        <p:nvSpPr>
          <p:cNvPr id="13" name="Text 11"/>
          <p:cNvSpPr/>
          <p:nvPr/>
        </p:nvSpPr>
        <p:spPr>
          <a:xfrm>
            <a:off x="1879600" y="4472781"/>
            <a:ext cx="6587252" cy="360627"/>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7F6F2"/>
                </a:solidFill>
                <a:latin typeface="IBM Plex Sans" pitchFamily="34" charset="0"/>
                <a:ea typeface="IBM Plex Sans" pitchFamily="34" charset="-122"/>
                <a:cs typeface="IBM Plex Sans" pitchFamily="34" charset="-120"/>
              </a:rPr>
              <a:t>Does combining the two improve detection?</a:t>
            </a:r>
            <a:endParaRPr lang="en-US" sz="2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4 · Compliance anomaly detection in PDDIKTI data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A"/>
                </a:solidFill>
                <a:latin typeface="IBM Plex Sans" pitchFamily="34" charset="0"/>
                <a:ea typeface="IBM Plex Sans" pitchFamily="34" charset="-122"/>
                <a:cs typeface="IBM Plex Sans" pitchFamily="34" charset="-120"/>
              </a:rPr>
              <a:t>DATASET</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The PDDIKTI extract</a:t>
            </a:r>
            <a:endParaRPr lang="en-US" sz="3600" dirty="0"/>
          </a:p>
        </p:txBody>
      </p:sp>
      <p:sp>
        <p:nvSpPr>
          <p:cNvPr id="4" name="Shape 2"/>
          <p:cNvSpPr/>
          <p:nvPr/>
        </p:nvSpPr>
        <p:spPr>
          <a:xfrm>
            <a:off x="812800" y="1998929"/>
            <a:ext cx="3318933" cy="0"/>
          </a:xfrm>
          <a:prstGeom prst="line">
            <a:avLst/>
          </a:prstGeom>
          <a:noFill/>
          <a:ln w="25400">
            <a:solidFill>
              <a:srgbClr val="B4501A"/>
            </a:solidFill>
            <a:prstDash val="solid"/>
          </a:ln>
        </p:spPr>
      </p:sp>
      <p:sp>
        <p:nvSpPr>
          <p:cNvPr id="5" name="Text 3"/>
          <p:cNvSpPr/>
          <p:nvPr/>
        </p:nvSpPr>
        <p:spPr>
          <a:xfrm>
            <a:off x="812800" y="2164029"/>
            <a:ext cx="3418501"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4213D"/>
                </a:solidFill>
                <a:latin typeface="Source Serif 4" pitchFamily="18" charset="0"/>
                <a:ea typeface="Source Serif 4" pitchFamily="18" charset="-122"/>
                <a:cs typeface="Source Serif 4" pitchFamily="18" charset="-120"/>
              </a:rPr>
              <a:t>3,948</a:t>
            </a:r>
            <a:endParaRPr lang="en-US" sz="6000" dirty="0"/>
          </a:p>
        </p:txBody>
      </p:sp>
      <p:sp>
        <p:nvSpPr>
          <p:cNvPr id="6" name="Text 4"/>
          <p:cNvSpPr/>
          <p:nvPr/>
        </p:nvSpPr>
        <p:spPr>
          <a:xfrm>
            <a:off x="812800" y="3053029"/>
            <a:ext cx="3418501"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student-semester records</a:t>
            </a:r>
            <a:endParaRPr lang="en-US" sz="1600" dirty="0"/>
          </a:p>
        </p:txBody>
      </p:sp>
      <p:sp>
        <p:nvSpPr>
          <p:cNvPr id="7" name="Shape 5"/>
          <p:cNvSpPr/>
          <p:nvPr/>
        </p:nvSpPr>
        <p:spPr>
          <a:xfrm>
            <a:off x="4436533" y="1998929"/>
            <a:ext cx="3318933" cy="0"/>
          </a:xfrm>
          <a:prstGeom prst="line">
            <a:avLst/>
          </a:prstGeom>
          <a:noFill/>
          <a:ln w="25400">
            <a:solidFill>
              <a:srgbClr val="B4501A"/>
            </a:solidFill>
            <a:prstDash val="solid"/>
          </a:ln>
        </p:spPr>
      </p:sp>
      <p:sp>
        <p:nvSpPr>
          <p:cNvPr id="8" name="Text 6"/>
          <p:cNvSpPr/>
          <p:nvPr/>
        </p:nvSpPr>
        <p:spPr>
          <a:xfrm>
            <a:off x="4436533" y="2164029"/>
            <a:ext cx="3418501"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4213D"/>
                </a:solidFill>
                <a:latin typeface="Source Serif 4" pitchFamily="18" charset="0"/>
                <a:ea typeface="Source Serif 4" pitchFamily="18" charset="-122"/>
                <a:cs typeface="Source Serif 4" pitchFamily="18" charset="-120"/>
              </a:rPr>
              <a:t>348</a:t>
            </a:r>
            <a:endParaRPr lang="en-US" sz="6000" dirty="0"/>
          </a:p>
        </p:txBody>
      </p:sp>
      <p:sp>
        <p:nvSpPr>
          <p:cNvPr id="9" name="Text 7"/>
          <p:cNvSpPr/>
          <p:nvPr/>
        </p:nvSpPr>
        <p:spPr>
          <a:xfrm>
            <a:off x="4436533" y="3053029"/>
            <a:ext cx="3418501"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courses</a:t>
            </a:r>
            <a:endParaRPr lang="en-US" sz="1600" dirty="0"/>
          </a:p>
        </p:txBody>
      </p:sp>
      <p:sp>
        <p:nvSpPr>
          <p:cNvPr id="10" name="Shape 8"/>
          <p:cNvSpPr/>
          <p:nvPr/>
        </p:nvSpPr>
        <p:spPr>
          <a:xfrm>
            <a:off x="8060267" y="1998929"/>
            <a:ext cx="3318933" cy="0"/>
          </a:xfrm>
          <a:prstGeom prst="line">
            <a:avLst/>
          </a:prstGeom>
          <a:noFill/>
          <a:ln w="25400">
            <a:solidFill>
              <a:srgbClr val="B4501A"/>
            </a:solidFill>
            <a:prstDash val="solid"/>
          </a:ln>
        </p:spPr>
      </p:sp>
      <p:sp>
        <p:nvSpPr>
          <p:cNvPr id="11" name="Text 9"/>
          <p:cNvSpPr/>
          <p:nvPr/>
        </p:nvSpPr>
        <p:spPr>
          <a:xfrm>
            <a:off x="8060267" y="2164029"/>
            <a:ext cx="3418501"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4213D"/>
                </a:solidFill>
                <a:latin typeface="Source Serif 4" pitchFamily="18" charset="0"/>
                <a:ea typeface="Source Serif 4" pitchFamily="18" charset="-122"/>
                <a:cs typeface="Source Serif 4" pitchFamily="18" charset="-120"/>
              </a:rPr>
              <a:t>1,636</a:t>
            </a:r>
            <a:endParaRPr lang="en-US" sz="6000" dirty="0"/>
          </a:p>
        </p:txBody>
      </p:sp>
      <p:sp>
        <p:nvSpPr>
          <p:cNvPr id="12" name="Text 10"/>
          <p:cNvSpPr/>
          <p:nvPr/>
        </p:nvSpPr>
        <p:spPr>
          <a:xfrm>
            <a:off x="8060267" y="3053029"/>
            <a:ext cx="3418501"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lecturer teaching activities</a:t>
            </a:r>
            <a:endParaRPr lang="en-US" sz="1600" dirty="0"/>
          </a:p>
        </p:txBody>
      </p:sp>
      <p:sp>
        <p:nvSpPr>
          <p:cNvPr id="13" name="Shape 11"/>
          <p:cNvSpPr/>
          <p:nvPr/>
        </p:nvSpPr>
        <p:spPr>
          <a:xfrm>
            <a:off x="812800" y="3648605"/>
            <a:ext cx="3318933" cy="0"/>
          </a:xfrm>
          <a:prstGeom prst="line">
            <a:avLst/>
          </a:prstGeom>
          <a:noFill/>
          <a:ln w="12700">
            <a:solidFill>
              <a:srgbClr val="C9C3B6"/>
            </a:solidFill>
            <a:prstDash val="solid"/>
          </a:ln>
        </p:spPr>
      </p:sp>
      <p:sp>
        <p:nvSpPr>
          <p:cNvPr id="14" name="Text 12"/>
          <p:cNvSpPr/>
          <p:nvPr/>
        </p:nvSpPr>
        <p:spPr>
          <a:xfrm>
            <a:off x="812800" y="3807355"/>
            <a:ext cx="3418501"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Source Serif 4" pitchFamily="18" charset="0"/>
                <a:ea typeface="Source Serif 4" pitchFamily="18" charset="-122"/>
                <a:cs typeface="Source Serif 4" pitchFamily="18" charset="-120"/>
              </a:rPr>
              <a:t>709</a:t>
            </a:r>
            <a:endParaRPr lang="en-US" sz="3600" dirty="0"/>
          </a:p>
        </p:txBody>
      </p:sp>
      <p:sp>
        <p:nvSpPr>
          <p:cNvPr id="15" name="Text 13"/>
          <p:cNvSpPr/>
          <p:nvPr/>
        </p:nvSpPr>
        <p:spPr>
          <a:xfrm>
            <a:off x="812800" y="4361061"/>
            <a:ext cx="3418501"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students (711 registrations)</a:t>
            </a:r>
            <a:endParaRPr lang="en-US" sz="1600" dirty="0"/>
          </a:p>
        </p:txBody>
      </p:sp>
      <p:sp>
        <p:nvSpPr>
          <p:cNvPr id="16" name="Shape 14"/>
          <p:cNvSpPr/>
          <p:nvPr/>
        </p:nvSpPr>
        <p:spPr>
          <a:xfrm>
            <a:off x="4436533" y="3648605"/>
            <a:ext cx="3318933" cy="0"/>
          </a:xfrm>
          <a:prstGeom prst="line">
            <a:avLst/>
          </a:prstGeom>
          <a:noFill/>
          <a:ln w="12700">
            <a:solidFill>
              <a:srgbClr val="C9C3B6"/>
            </a:solidFill>
            <a:prstDash val="solid"/>
          </a:ln>
        </p:spPr>
      </p:sp>
      <p:sp>
        <p:nvSpPr>
          <p:cNvPr id="17" name="Text 15"/>
          <p:cNvSpPr/>
          <p:nvPr/>
        </p:nvSpPr>
        <p:spPr>
          <a:xfrm>
            <a:off x="4436533" y="3807355"/>
            <a:ext cx="3418501"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Source Serif 4" pitchFamily="18" charset="0"/>
                <a:ea typeface="Source Serif 4" pitchFamily="18" charset="-122"/>
                <a:cs typeface="Source Serif 4" pitchFamily="18" charset="-120"/>
              </a:rPr>
              <a:t>3</a:t>
            </a:r>
            <a:endParaRPr lang="en-US" sz="3600" dirty="0"/>
          </a:p>
        </p:txBody>
      </p:sp>
      <p:sp>
        <p:nvSpPr>
          <p:cNvPr id="18" name="Text 16"/>
          <p:cNvSpPr/>
          <p:nvPr/>
        </p:nvSpPr>
        <p:spPr>
          <a:xfrm>
            <a:off x="4436533" y="4361061"/>
            <a:ext cx="3418501"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study programs</a:t>
            </a:r>
            <a:endParaRPr lang="en-US" sz="1600" dirty="0"/>
          </a:p>
        </p:txBody>
      </p:sp>
      <p:sp>
        <p:nvSpPr>
          <p:cNvPr id="19" name="Shape 17"/>
          <p:cNvSpPr/>
          <p:nvPr/>
        </p:nvSpPr>
        <p:spPr>
          <a:xfrm>
            <a:off x="8060267" y="3648605"/>
            <a:ext cx="3318933" cy="0"/>
          </a:xfrm>
          <a:prstGeom prst="line">
            <a:avLst/>
          </a:prstGeom>
          <a:noFill/>
          <a:ln w="12700">
            <a:solidFill>
              <a:srgbClr val="C9C3B6"/>
            </a:solidFill>
            <a:prstDash val="solid"/>
          </a:ln>
        </p:spPr>
      </p:sp>
      <p:sp>
        <p:nvSpPr>
          <p:cNvPr id="20" name="Text 18"/>
          <p:cNvSpPr/>
          <p:nvPr/>
        </p:nvSpPr>
        <p:spPr>
          <a:xfrm>
            <a:off x="8060267" y="3807355"/>
            <a:ext cx="3418501"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Source Serif 4" pitchFamily="18" charset="0"/>
                <a:ea typeface="Source Serif 4" pitchFamily="18" charset="-122"/>
                <a:cs typeface="Source Serif 4" pitchFamily="18" charset="-120"/>
              </a:rPr>
              <a:t>15</a:t>
            </a:r>
            <a:endParaRPr lang="en-US" sz="3600" dirty="0"/>
          </a:p>
        </p:txBody>
      </p:sp>
      <p:sp>
        <p:nvSpPr>
          <p:cNvPr id="21" name="Text 19"/>
          <p:cNvSpPr/>
          <p:nvPr/>
        </p:nvSpPr>
        <p:spPr>
          <a:xfrm>
            <a:off x="8060267" y="4361061"/>
            <a:ext cx="3418501"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semesters, 2020/1 to 2026/1</a:t>
            </a:r>
            <a:endParaRPr lang="en-US" sz="1600" dirty="0"/>
          </a:p>
        </p:txBody>
      </p:sp>
      <p:sp>
        <p:nvSpPr>
          <p:cNvPr id="22" name="Text 20"/>
          <p:cNvSpPr/>
          <p:nvPr/>
        </p:nvSpPr>
        <p:spPr>
          <a:xfrm>
            <a:off x="812800" y="500109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Replicated from the Feeder PDDIKTI web service, one table per entity. Also 1,607 classes, 90 lecturers and 2,880 transfer-grade records.</a:t>
            </a:r>
            <a:endParaRPr lang="en-US" sz="12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5 · Compliance anomaly detection in PDDIKTI data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27277"/>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B4501A"/>
                </a:solidFill>
                <a:latin typeface="IBM Plex Sans" pitchFamily="34" charset="0"/>
                <a:ea typeface="IBM Plex Sans" pitchFamily="34" charset="-122"/>
                <a:cs typeface="IBM Plex Sans" pitchFamily="34" charset="-120"/>
              </a:rPr>
              <a:t>COMPLIANCE RULES</a:t>
            </a:r>
            <a:endParaRPr lang="en-US" sz="1159" dirty="0"/>
          </a:p>
        </p:txBody>
      </p:sp>
      <p:sp>
        <p:nvSpPr>
          <p:cNvPr id="3" name="Text 1"/>
          <p:cNvSpPr/>
          <p:nvPr>
            <p:ph type="title"/>
          </p:nvPr>
        </p:nvSpPr>
        <p:spPr>
          <a:xfrm>
            <a:off x="812800" y="1116279"/>
            <a:ext cx="10883392" cy="501253"/>
          </a:xfrm>
          <a:prstGeom prst="rect">
            <a:avLst/>
          </a:prstGeom>
          <a:noFill/>
          <a:ln/>
        </p:spPr>
        <p:txBody>
          <a:bodyPr wrap="square" lIns="0" tIns="0" rIns="0" bIns="0" rtlCol="0" anchor="t">
            <a:normAutofit/>
          </a:bodyPr>
          <a:lstStyle/>
          <a:p>
            <a:pPr algn="l" indent="0" marL="0">
              <a:lnSpc>
                <a:spcPts val="3774"/>
              </a:lnSpc>
              <a:buNone/>
            </a:pPr>
            <a:r>
              <a:rPr lang="en-US" sz="3431" b="1" i="0" dirty="0">
                <a:solidFill>
                  <a:srgbClr val="14213D"/>
                </a:solidFill>
                <a:latin typeface="Source Serif 4" pitchFamily="18" charset="0"/>
                <a:ea typeface="Source Serif 4" pitchFamily="18" charset="-122"/>
                <a:cs typeface="Source Serif 4" pitchFamily="18" charset="-120"/>
              </a:rPr>
              <a:t>Feeder validation rules</a:t>
            </a:r>
            <a:endParaRPr lang="en-US" sz="3431"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09632"/>
          <a:ext cx="10553700" cy="3424238"/>
        </p:xfrm>
        <a:graphic>
          <a:graphicData uri="http://schemas.openxmlformats.org/drawingml/2006/table">
            <a:tbl>
              <a:tblPr/>
              <a:tblGrid>
                <a:gridCol w="2321814"/>
                <a:gridCol w="8231886"/>
              </a:tblGrid>
              <a:tr h="342371">
                <a:tc>
                  <a:txBody>
                    <a:bodyPr/>
                    <a:lstStyle/>
                    <a:p>
                      <a:pPr indent="0" marL="0">
                        <a:lnSpc>
                          <a:spcPts val="1729"/>
                        </a:lnSpc>
                        <a:buNone/>
                      </a:pPr>
                      <a:r>
                        <a:rPr lang="en-US" sz="1235" b="1" dirty="0">
                          <a:solidFill>
                            <a:srgbClr val="F7F6F2"/>
                          </a:solidFill>
                          <a:latin typeface="IBM Plex Sans" pitchFamily="34" charset="0"/>
                          <a:ea typeface="IBM Plex Sans" pitchFamily="34" charset="-122"/>
                          <a:cs typeface="IBM Plex Sans" pitchFamily="34" charset="-120"/>
                        </a:rPr>
                        <a:t>Entity</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729"/>
                        </a:lnSpc>
                        <a:buNone/>
                      </a:pPr>
                      <a:r>
                        <a:rPr lang="en-US" sz="1235" b="1" dirty="0">
                          <a:solidFill>
                            <a:srgbClr val="F7F6F2"/>
                          </a:solidFill>
                          <a:latin typeface="IBM Plex Sans" pitchFamily="34" charset="0"/>
                          <a:ea typeface="IBM Plex Sans" pitchFamily="34" charset="-122"/>
                          <a:cs typeface="IBM Plex Sans" pitchFamily="34" charset="-120"/>
                        </a:rPr>
                        <a:t>Violation condition</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42371">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Student</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Exit period before entry period; entry date not before graduation; age under 10</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42437">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Student</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Recognized credits inconsistent with admission type (new vs. transfer/conversion)</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42437">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Student</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Duplicate records by name, birth date and birth place</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42437">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Student activity</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GPA &gt; 4.0 or semester GPA &gt; 4.0; GPA = 0 while semester GPA &gt; 0</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342437">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Student activity</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Total and semester credits both 0 while enrollment exists</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342437">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Student activity</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Semester credit load &gt; 24</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342437">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Course</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Component credits ≠ course credits, components sum to 0, or course credits &gt; 9</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42437">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Lecturer activity</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Realized meetings &gt; 18</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342437">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Study period</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Overlapping lecture periods within one study program</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Text 2"/>
          <p:cNvSpPr/>
          <p:nvPr/>
        </p:nvSpPr>
        <p:spPr>
          <a:xfrm>
            <a:off x="812800" y="5638670"/>
            <a:ext cx="10883392" cy="228732"/>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4A5568"/>
                </a:solidFill>
                <a:latin typeface="IBM Plex Sans" pitchFamily="34" charset="0"/>
                <a:ea typeface="IBM Plex Sans" pitchFamily="34" charset="-122"/>
                <a:cs typeface="IBM Plex Sans" pitchFamily="34" charset="-120"/>
              </a:rPr>
              <a:t>Excluded: the civil-registry (DUKCAPIL) identity check, which needs an external source.</a:t>
            </a:r>
            <a:endParaRPr lang="en-US" sz="1159"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6 · Compliance anomaly detection in PDDIKTI data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A"/>
                </a:solidFill>
                <a:latin typeface="IBM Plex Sans" pitchFamily="34" charset="0"/>
                <a:ea typeface="IBM Plex Sans" pitchFamily="34" charset="-122"/>
                <a:cs typeface="IBM Plex Sans" pitchFamily="34" charset="-120"/>
              </a:rPr>
              <a:t>METHODOLOGY</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A three-stage detection pipeline</a:t>
            </a:r>
            <a:endParaRPr lang="en-US" sz="3600" dirty="0"/>
          </a:p>
        </p:txBody>
      </p:sp>
      <p:sp>
        <p:nvSpPr>
          <p:cNvPr id="4" name="Shape 2"/>
          <p:cNvSpPr/>
          <p:nvPr/>
        </p:nvSpPr>
        <p:spPr>
          <a:xfrm>
            <a:off x="819150" y="3086100"/>
            <a:ext cx="2273300" cy="1638300"/>
          </a:xfrm>
          <a:prstGeom prst="roundRect">
            <a:avLst>
              <a:gd name="adj" fmla="val 5814"/>
            </a:avLst>
          </a:prstGeom>
          <a:solidFill>
            <a:srgbClr val="FDFCFA"/>
          </a:solidFill>
          <a:ln w="12700">
            <a:solidFill>
              <a:srgbClr val="C9C3B6"/>
            </a:solidFill>
            <a:prstDash val="solid"/>
          </a:ln>
        </p:spPr>
      </p:sp>
      <p:sp>
        <p:nvSpPr>
          <p:cNvPr id="5" name="Text 3"/>
          <p:cNvSpPr/>
          <p:nvPr/>
        </p:nvSpPr>
        <p:spPr>
          <a:xfrm>
            <a:off x="1028700" y="3295650"/>
            <a:ext cx="190982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ource Serif 4" pitchFamily="18" charset="0"/>
                <a:ea typeface="Source Serif 4" pitchFamily="18" charset="-122"/>
                <a:cs typeface="Source Serif 4" pitchFamily="18" charset="-120"/>
              </a:rPr>
              <a:t>PDDIKTI tables</a:t>
            </a:r>
            <a:endParaRPr lang="en-US" sz="1600" dirty="0"/>
          </a:p>
        </p:txBody>
      </p:sp>
      <p:sp>
        <p:nvSpPr>
          <p:cNvPr id="6" name="Text 4"/>
          <p:cNvSpPr/>
          <p:nvPr/>
        </p:nvSpPr>
        <p:spPr>
          <a:xfrm>
            <a:off x="1028700" y="3615665"/>
            <a:ext cx="190982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Feeder web service replica, one table per entity</a:t>
            </a:r>
            <a:endParaRPr lang="en-US" sz="1200" dirty="0"/>
          </a:p>
        </p:txBody>
      </p:sp>
      <p:sp>
        <p:nvSpPr>
          <p:cNvPr id="7" name="Shape 5"/>
          <p:cNvSpPr/>
          <p:nvPr/>
        </p:nvSpPr>
        <p:spPr>
          <a:xfrm>
            <a:off x="3870325" y="2105025"/>
            <a:ext cx="3282950" cy="1695450"/>
          </a:xfrm>
          <a:prstGeom prst="roundRect">
            <a:avLst>
              <a:gd name="adj" fmla="val 5431"/>
            </a:avLst>
          </a:prstGeom>
          <a:solidFill>
            <a:srgbClr val="FDFCFA"/>
          </a:solidFill>
          <a:ln w="19050">
            <a:solidFill>
              <a:srgbClr val="B4501A"/>
            </a:solidFill>
            <a:prstDash val="solid"/>
          </a:ln>
        </p:spPr>
      </p:sp>
      <p:sp>
        <p:nvSpPr>
          <p:cNvPr id="8" name="Text 6"/>
          <p:cNvSpPr/>
          <p:nvPr/>
        </p:nvSpPr>
        <p:spPr>
          <a:xfrm>
            <a:off x="4080933" y="2315635"/>
            <a:ext cx="294758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ource Serif 4" pitchFamily="18" charset="0"/>
                <a:ea typeface="Source Serif 4" pitchFamily="18" charset="-122"/>
                <a:cs typeface="Source Serif 4" pitchFamily="18" charset="-120"/>
              </a:rPr>
              <a:t>1 · Rule-based detection</a:t>
            </a:r>
            <a:endParaRPr lang="en-US" sz="1600" dirty="0"/>
          </a:p>
        </p:txBody>
      </p:sp>
      <p:sp>
        <p:nvSpPr>
          <p:cNvPr id="9" name="Text 7"/>
          <p:cNvSpPr/>
          <p:nvPr/>
        </p:nvSpPr>
        <p:spPr>
          <a:xfrm>
            <a:off x="4080933" y="2635647"/>
            <a:ext cx="294758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One predicate per rule; a record is flagged when any rule fires, and the violated rules are kept as the explanation</a:t>
            </a:r>
            <a:endParaRPr lang="en-US" sz="1200" dirty="0"/>
          </a:p>
        </p:txBody>
      </p:sp>
      <p:sp>
        <p:nvSpPr>
          <p:cNvPr id="10" name="Shape 8"/>
          <p:cNvSpPr/>
          <p:nvPr/>
        </p:nvSpPr>
        <p:spPr>
          <a:xfrm>
            <a:off x="3870325" y="4073525"/>
            <a:ext cx="3282950" cy="1568450"/>
          </a:xfrm>
          <a:prstGeom prst="roundRect">
            <a:avLst>
              <a:gd name="adj" fmla="val 5870"/>
            </a:avLst>
          </a:prstGeom>
          <a:solidFill>
            <a:srgbClr val="FDFCFA"/>
          </a:solidFill>
          <a:ln w="19050">
            <a:solidFill>
              <a:srgbClr val="2B5C9E"/>
            </a:solidFill>
            <a:prstDash val="solid"/>
          </a:ln>
        </p:spPr>
      </p:sp>
      <p:sp>
        <p:nvSpPr>
          <p:cNvPr id="11" name="Text 9"/>
          <p:cNvSpPr/>
          <p:nvPr/>
        </p:nvSpPr>
        <p:spPr>
          <a:xfrm>
            <a:off x="4080933" y="4284135"/>
            <a:ext cx="294758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ource Serif 4" pitchFamily="18" charset="0"/>
                <a:ea typeface="Source Serif 4" pitchFamily="18" charset="-122"/>
                <a:cs typeface="Source Serif 4" pitchFamily="18" charset="-120"/>
              </a:rPr>
              <a:t>2 · ML outlier detection</a:t>
            </a:r>
            <a:endParaRPr lang="en-US" sz="1600" dirty="0"/>
          </a:p>
        </p:txBody>
      </p:sp>
      <p:sp>
        <p:nvSpPr>
          <p:cNvPr id="12" name="Text 10"/>
          <p:cNvSpPr/>
          <p:nvPr/>
        </p:nvSpPr>
        <p:spPr>
          <a:xfrm>
            <a:off x="4080933" y="4604147"/>
            <a:ext cx="294758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Standardized entity features scored by Isolation Forest, LOF and an autoencoder</a:t>
            </a:r>
            <a:endParaRPr lang="en-US" sz="1200" dirty="0"/>
          </a:p>
        </p:txBody>
      </p:sp>
      <p:sp>
        <p:nvSpPr>
          <p:cNvPr id="13" name="Shape 11"/>
          <p:cNvSpPr/>
          <p:nvPr/>
        </p:nvSpPr>
        <p:spPr>
          <a:xfrm>
            <a:off x="7924800" y="3016250"/>
            <a:ext cx="3454400" cy="1778000"/>
          </a:xfrm>
          <a:prstGeom prst="roundRect">
            <a:avLst>
              <a:gd name="adj" fmla="val 5714"/>
            </a:avLst>
          </a:prstGeom>
          <a:solidFill>
            <a:srgbClr val="14213D"/>
          </a:solidFill>
          <a:ln/>
        </p:spPr>
      </p:sp>
      <p:sp>
        <p:nvSpPr>
          <p:cNvPr id="14" name="Text 12"/>
          <p:cNvSpPr/>
          <p:nvPr/>
        </p:nvSpPr>
        <p:spPr>
          <a:xfrm>
            <a:off x="8128000" y="3219450"/>
            <a:ext cx="313944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Source Serif 4" pitchFamily="18" charset="0"/>
                <a:ea typeface="Source Serif 4" pitchFamily="18" charset="-122"/>
                <a:cs typeface="Source Serif 4" pitchFamily="18" charset="-120"/>
              </a:rPr>
              <a:t>3 · Combine and evaluate</a:t>
            </a:r>
            <a:endParaRPr lang="en-US" sz="1600" dirty="0"/>
          </a:p>
        </p:txBody>
      </p:sp>
      <p:sp>
        <p:nvSpPr>
          <p:cNvPr id="15" name="Text 13"/>
          <p:cNvSpPr/>
          <p:nvPr/>
        </p:nvSpPr>
        <p:spPr>
          <a:xfrm>
            <a:off x="8128000" y="3539465"/>
            <a:ext cx="313944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Rule hits ranked first, then mean percentile rank of the ML scores; scored on injected anomalies over 10 seeds</a:t>
            </a:r>
            <a:endParaRPr lang="en-US" sz="1200" dirty="0"/>
          </a:p>
        </p:txBody>
      </p:sp>
      <p:pic>
        <p:nvPicPr>
          <p:cNvPr id="16" name="Image 0" descr="connector">    </p:cNvPr>
          <p:cNvPicPr>
            <a:picLocks noChangeAspect="1"/>
          </p:cNvPicPr>
          <p:nvPr/>
        </p:nvPicPr>
        <p:blipFill>
          <a:blip r:embed="rId1"/>
          <a:srcRect l="0" r="0" t="0" b="0"/>
          <a:stretch/>
        </p:blipFill>
        <p:spPr>
          <a:xfrm>
            <a:off x="3048000" y="2901950"/>
            <a:ext cx="863600" cy="1054100"/>
          </a:xfrm>
          <a:prstGeom prst="rect">
            <a:avLst/>
          </a:prstGeom>
        </p:spPr>
      </p:pic>
      <p:pic>
        <p:nvPicPr>
          <p:cNvPr id="17" name="Image 1" descr="connector">    </p:cNvPr>
          <p:cNvPicPr>
            <a:picLocks noChangeAspect="1"/>
          </p:cNvPicPr>
          <p:nvPr/>
        </p:nvPicPr>
        <p:blipFill>
          <a:blip r:embed="rId2"/>
          <a:srcRect l="0" r="0" t="0" b="0"/>
          <a:stretch/>
        </p:blipFill>
        <p:spPr>
          <a:xfrm>
            <a:off x="3048000" y="3854450"/>
            <a:ext cx="863600" cy="1054100"/>
          </a:xfrm>
          <a:prstGeom prst="rect">
            <a:avLst/>
          </a:prstGeom>
        </p:spPr>
      </p:pic>
      <p:pic>
        <p:nvPicPr>
          <p:cNvPr id="18" name="Image 2" descr="connector">    </p:cNvPr>
          <p:cNvPicPr>
            <a:picLocks noChangeAspect="1"/>
          </p:cNvPicPr>
          <p:nvPr/>
        </p:nvPicPr>
        <p:blipFill>
          <a:blip r:embed="rId3"/>
          <a:srcRect l="0" r="0" t="0" b="0"/>
          <a:stretch/>
        </p:blipFill>
        <p:spPr>
          <a:xfrm>
            <a:off x="7112000" y="2901950"/>
            <a:ext cx="863600" cy="1054100"/>
          </a:xfrm>
          <a:prstGeom prst="rect">
            <a:avLst/>
          </a:prstGeom>
        </p:spPr>
      </p:pic>
      <p:pic>
        <p:nvPicPr>
          <p:cNvPr id="19" name="Image 3" descr="connector">    </p:cNvPr>
          <p:cNvPicPr>
            <a:picLocks noChangeAspect="1"/>
          </p:cNvPicPr>
          <p:nvPr/>
        </p:nvPicPr>
        <p:blipFill>
          <a:blip r:embed="rId4"/>
          <a:srcRect l="0" r="0" t="0" b="0"/>
          <a:stretch/>
        </p:blipFill>
        <p:spPr>
          <a:xfrm>
            <a:off x="7112000" y="3854450"/>
            <a:ext cx="863600" cy="1054100"/>
          </a:xfrm>
          <a:prstGeom prst="rect">
            <a:avLst/>
          </a:prstGeom>
        </p:spPr>
      </p:pic>
      <p:sp>
        <p:nvSpPr>
          <p:cNvPr id="20"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7 · Compliance anomaly detection in PDDIKTI data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B5C9E"/>
                </a:solidFill>
                <a:latin typeface="IBM Plex Sans" pitchFamily="34" charset="0"/>
                <a:ea typeface="IBM Plex Sans" pitchFamily="34" charset="-122"/>
                <a:cs typeface="IBM Plex Sans" pitchFamily="34" charset="-120"/>
              </a:rPr>
              <a:t>MACHINE LEARNING</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Three unsupervised detectors</a:t>
            </a:r>
            <a:endParaRPr lang="en-US" sz="3600" dirty="0"/>
          </a:p>
        </p:txBody>
      </p:sp>
      <p:sp>
        <p:nvSpPr>
          <p:cNvPr id="4" name="Shape 2"/>
          <p:cNvSpPr/>
          <p:nvPr/>
        </p:nvSpPr>
        <p:spPr>
          <a:xfrm>
            <a:off x="819150" y="1941779"/>
            <a:ext cx="3373967" cy="2339049"/>
          </a:xfrm>
          <a:prstGeom prst="roundRect">
            <a:avLst>
              <a:gd name="adj" fmla="val 4072"/>
            </a:avLst>
          </a:prstGeom>
          <a:solidFill>
            <a:srgbClr val="FDFCFA"/>
          </a:solidFill>
          <a:ln w="12700">
            <a:solidFill>
              <a:srgbClr val="E2DED5"/>
            </a:solidFill>
            <a:prstDash val="solid"/>
          </a:ln>
        </p:spPr>
      </p:sp>
      <p:sp>
        <p:nvSpPr>
          <p:cNvPr id="5" name="Text 3"/>
          <p:cNvSpPr/>
          <p:nvPr/>
        </p:nvSpPr>
        <p:spPr>
          <a:xfrm>
            <a:off x="1079500" y="2202129"/>
            <a:ext cx="2938865"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Isolation Forest</a:t>
            </a:r>
            <a:endParaRPr lang="en-US" sz="2200" dirty="0"/>
          </a:p>
        </p:txBody>
      </p:sp>
      <p:sp>
        <p:nvSpPr>
          <p:cNvPr id="6" name="Text 4"/>
          <p:cNvSpPr/>
          <p:nvPr/>
        </p:nvSpPr>
        <p:spPr>
          <a:xfrm>
            <a:off x="1079500" y="2638955"/>
            <a:ext cx="2938865"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Random splits isolate records; a short path means anomalous</a:t>
            </a:r>
            <a:endParaRPr lang="en-US" sz="1600" dirty="0"/>
          </a:p>
        </p:txBody>
      </p:sp>
      <p:sp>
        <p:nvSpPr>
          <p:cNvPr id="7" name="Text 5"/>
          <p:cNvSpPr/>
          <p:nvPr/>
        </p:nvSpPr>
        <p:spPr>
          <a:xfrm>
            <a:off x="1079500" y="3309410"/>
            <a:ext cx="293886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C9E"/>
                </a:solidFill>
                <a:latin typeface="IBM Plex Sans" pitchFamily="34" charset="0"/>
                <a:ea typeface="IBM Plex Sans" pitchFamily="34" charset="-122"/>
                <a:cs typeface="IBM Plex Sans" pitchFamily="34" charset="-120"/>
              </a:rPr>
              <a:t>200 trees</a:t>
            </a:r>
            <a:endParaRPr lang="en-US" sz="1200" dirty="0"/>
          </a:p>
        </p:txBody>
      </p:sp>
      <p:sp>
        <p:nvSpPr>
          <p:cNvPr id="8" name="Shape 6"/>
          <p:cNvSpPr/>
          <p:nvPr/>
        </p:nvSpPr>
        <p:spPr>
          <a:xfrm>
            <a:off x="4409017" y="1941779"/>
            <a:ext cx="3373967" cy="2339049"/>
          </a:xfrm>
          <a:prstGeom prst="roundRect">
            <a:avLst>
              <a:gd name="adj" fmla="val 4072"/>
            </a:avLst>
          </a:prstGeom>
          <a:solidFill>
            <a:srgbClr val="FDFCFA"/>
          </a:solidFill>
          <a:ln w="12700">
            <a:solidFill>
              <a:srgbClr val="E2DED5"/>
            </a:solidFill>
            <a:prstDash val="solid"/>
          </a:ln>
        </p:spPr>
      </p:sp>
      <p:sp>
        <p:nvSpPr>
          <p:cNvPr id="9" name="Text 7"/>
          <p:cNvSpPr/>
          <p:nvPr/>
        </p:nvSpPr>
        <p:spPr>
          <a:xfrm>
            <a:off x="4669367" y="2202129"/>
            <a:ext cx="2938865"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Local Outlier Factor</a:t>
            </a:r>
            <a:endParaRPr lang="en-US" sz="2200" dirty="0"/>
          </a:p>
        </p:txBody>
      </p:sp>
      <p:sp>
        <p:nvSpPr>
          <p:cNvPr id="10" name="Text 8"/>
          <p:cNvSpPr/>
          <p:nvPr/>
        </p:nvSpPr>
        <p:spPr>
          <a:xfrm>
            <a:off x="4669367" y="2638955"/>
            <a:ext cx="2938865"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Compares a record’s local density with its neighbors’</a:t>
            </a:r>
            <a:endParaRPr lang="en-US" sz="1600" dirty="0"/>
          </a:p>
        </p:txBody>
      </p:sp>
      <p:sp>
        <p:nvSpPr>
          <p:cNvPr id="11" name="Text 9"/>
          <p:cNvSpPr/>
          <p:nvPr/>
        </p:nvSpPr>
        <p:spPr>
          <a:xfrm>
            <a:off x="4669367" y="3309410"/>
            <a:ext cx="293886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C9E"/>
                </a:solidFill>
                <a:latin typeface="IBM Plex Sans" pitchFamily="34" charset="0"/>
                <a:ea typeface="IBM Plex Sans" pitchFamily="34" charset="-122"/>
                <a:cs typeface="IBM Plex Sans" pitchFamily="34" charset="-120"/>
              </a:rPr>
              <a:t>k = 20 neighbors</a:t>
            </a:r>
            <a:endParaRPr lang="en-US" sz="1200" dirty="0"/>
          </a:p>
        </p:txBody>
      </p:sp>
      <p:sp>
        <p:nvSpPr>
          <p:cNvPr id="12" name="Shape 10"/>
          <p:cNvSpPr/>
          <p:nvPr/>
        </p:nvSpPr>
        <p:spPr>
          <a:xfrm>
            <a:off x="7998884" y="1941779"/>
            <a:ext cx="3373967" cy="2339049"/>
          </a:xfrm>
          <a:prstGeom prst="roundRect">
            <a:avLst>
              <a:gd name="adj" fmla="val 4072"/>
            </a:avLst>
          </a:prstGeom>
          <a:solidFill>
            <a:srgbClr val="FDFCFA"/>
          </a:solidFill>
          <a:ln w="12700">
            <a:solidFill>
              <a:srgbClr val="E2DED5"/>
            </a:solidFill>
            <a:prstDash val="solid"/>
          </a:ln>
        </p:spPr>
      </p:sp>
      <p:sp>
        <p:nvSpPr>
          <p:cNvPr id="13" name="Text 11"/>
          <p:cNvSpPr/>
          <p:nvPr/>
        </p:nvSpPr>
        <p:spPr>
          <a:xfrm>
            <a:off x="8259234" y="2202129"/>
            <a:ext cx="2938865"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Autoencoder</a:t>
            </a:r>
            <a:endParaRPr lang="en-US" sz="2200" dirty="0"/>
          </a:p>
        </p:txBody>
      </p:sp>
      <p:sp>
        <p:nvSpPr>
          <p:cNvPr id="14" name="Text 12"/>
          <p:cNvSpPr/>
          <p:nvPr/>
        </p:nvSpPr>
        <p:spPr>
          <a:xfrm>
            <a:off x="8259234" y="2638955"/>
            <a:ext cx="2938865"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Dense network reconstructs normal records; the error is the score</a:t>
            </a:r>
            <a:endParaRPr lang="en-US" sz="1600" dirty="0"/>
          </a:p>
        </p:txBody>
      </p:sp>
      <p:sp>
        <p:nvSpPr>
          <p:cNvPr id="15" name="Text 13"/>
          <p:cNvSpPr/>
          <p:nvPr/>
        </p:nvSpPr>
        <p:spPr>
          <a:xfrm>
            <a:off x="8259234" y="3593836"/>
            <a:ext cx="2938865"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C9E"/>
                </a:solidFill>
                <a:latin typeface="IBM Plex Sans" pitchFamily="34" charset="0"/>
                <a:ea typeface="IBM Plex Sans" pitchFamily="34" charset="-122"/>
                <a:cs typeface="IBM Plex Sans" pitchFamily="34" charset="-120"/>
              </a:rPr>
              <a:t>Hidden layers 2d, ⌊d/2⌋+1, 2d · up to 400 iterations</a:t>
            </a:r>
            <a:endParaRPr lang="en-US" sz="1200" dirty="0"/>
          </a:p>
        </p:txBody>
      </p:sp>
      <p:sp>
        <p:nvSpPr>
          <p:cNvPr id="16" name="Shape 14"/>
          <p:cNvSpPr/>
          <p:nvPr/>
        </p:nvSpPr>
        <p:spPr>
          <a:xfrm>
            <a:off x="812800" y="4598330"/>
            <a:ext cx="10566400" cy="0"/>
          </a:xfrm>
          <a:prstGeom prst="line">
            <a:avLst/>
          </a:prstGeom>
          <a:noFill/>
          <a:ln w="12700">
            <a:solidFill>
              <a:srgbClr val="C9C3B6"/>
            </a:solidFill>
            <a:prstDash val="solid"/>
          </a:ln>
        </p:spPr>
      </p:sp>
      <p:sp>
        <p:nvSpPr>
          <p:cNvPr id="17" name="Text 15"/>
          <p:cNvSpPr/>
          <p:nvPr/>
        </p:nvSpPr>
        <p:spPr>
          <a:xfrm>
            <a:off x="812800" y="4757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5568"/>
                </a:solidFill>
                <a:latin typeface="IBM Plex Sans" pitchFamily="34" charset="0"/>
                <a:ea typeface="IBM Plex Sans" pitchFamily="34" charset="-122"/>
                <a:cs typeface="IBM Plex Sans" pitchFamily="34" charset="-120"/>
              </a:rPr>
              <a:t>FEATURES, STANDARDIZED AND FITTED PER ENTITY</a:t>
            </a:r>
            <a:endParaRPr lang="en-US" sz="1200" dirty="0"/>
          </a:p>
        </p:txBody>
      </p:sp>
      <p:sp>
        <p:nvSpPr>
          <p:cNvPr id="18" name="Text 16"/>
          <p:cNvSpPr/>
          <p:nvPr/>
        </p:nvSpPr>
        <p:spPr>
          <a:xfrm>
            <a:off x="812800" y="5072000"/>
            <a:ext cx="3488267"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4A5C"/>
                </a:solidFill>
                <a:latin typeface="IBM Plex Sans" pitchFamily="34" charset="0"/>
                <a:ea typeface="IBM Plex Sans" pitchFamily="34" charset="-122"/>
                <a:cs typeface="IBM Plex Sans" pitchFamily="34" charset="-120"/>
              </a:rPr>
              <a:t>Student-semester:</a:t>
            </a:r>
            <a:r>
              <a:rPr lang="en-US" sz="1200" dirty="0">
                <a:solidFill>
                  <a:srgbClr val="3F4A5C"/>
                </a:solidFill>
                <a:latin typeface="IBM Plex Sans" pitchFamily="34" charset="0"/>
                <a:ea typeface="IBM Plex Sans" pitchFamily="34" charset="-122"/>
                <a:cs typeface="IBM Plex Sans" pitchFamily="34" charset="-120"/>
              </a:rPr>
              <a:t> semester GPA, cumulative GPA, semester and total credits, active status</a:t>
            </a:r>
            <a:endParaRPr lang="en-US" sz="1200" dirty="0"/>
          </a:p>
        </p:txBody>
      </p:sp>
      <p:sp>
        <p:nvSpPr>
          <p:cNvPr id="19" name="Text 17"/>
          <p:cNvSpPr/>
          <p:nvPr/>
        </p:nvSpPr>
        <p:spPr>
          <a:xfrm>
            <a:off x="4402667" y="5072000"/>
            <a:ext cx="3488267"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4A5C"/>
                </a:solidFill>
                <a:latin typeface="IBM Plex Sans" pitchFamily="34" charset="0"/>
                <a:ea typeface="IBM Plex Sans" pitchFamily="34" charset="-122"/>
                <a:cs typeface="IBM Plex Sans" pitchFamily="34" charset="-120"/>
              </a:rPr>
              <a:t>Course:</a:t>
            </a:r>
            <a:r>
              <a:rPr lang="en-US" sz="1200" dirty="0">
                <a:solidFill>
                  <a:srgbClr val="3F4A5C"/>
                </a:solidFill>
                <a:latin typeface="IBM Plex Sans" pitchFamily="34" charset="0"/>
                <a:ea typeface="IBM Plex Sans" pitchFamily="34" charset="-122"/>
                <a:cs typeface="IBM Plex Sans" pitchFamily="34" charset="-120"/>
              </a:rPr>
              <a:t> total credits, four credit components, total minus component sum</a:t>
            </a:r>
            <a:endParaRPr lang="en-US" sz="1200" dirty="0"/>
          </a:p>
        </p:txBody>
      </p:sp>
      <p:sp>
        <p:nvSpPr>
          <p:cNvPr id="20" name="Text 18"/>
          <p:cNvSpPr/>
          <p:nvPr/>
        </p:nvSpPr>
        <p:spPr>
          <a:xfrm>
            <a:off x="7992534" y="5072000"/>
            <a:ext cx="3488267"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4A5C"/>
                </a:solidFill>
                <a:latin typeface="IBM Plex Sans" pitchFamily="34" charset="0"/>
                <a:ea typeface="IBM Plex Sans" pitchFamily="34" charset="-122"/>
                <a:cs typeface="IBM Plex Sans" pitchFamily="34" charset="-120"/>
              </a:rPr>
              <a:t>Teaching:</a:t>
            </a:r>
            <a:r>
              <a:rPr lang="en-US" sz="1200" dirty="0">
                <a:solidFill>
                  <a:srgbClr val="3F4A5C"/>
                </a:solidFill>
                <a:latin typeface="IBM Plex Sans" pitchFamily="34" charset="0"/>
                <a:ea typeface="IBM Plex Sans" pitchFamily="34" charset="-122"/>
                <a:cs typeface="IBM Plex Sans" pitchFamily="34" charset="-120"/>
              </a:rPr>
              <a:t> planned meetings, realized meetings and their ratio</a:t>
            </a:r>
            <a:endParaRPr lang="en-US" sz="12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8 · Compliance anomaly detection in PDDIKTI data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A"/>
                </a:solidFill>
                <a:latin typeface="IBM Plex Sans" pitchFamily="34" charset="0"/>
                <a:ea typeface="IBM Plex Sans" pitchFamily="34" charset="-122"/>
                <a:cs typeface="IBM Plex Sans" pitchFamily="34" charset="-120"/>
              </a:rPr>
              <a:t>EVALUATION PROTOCOL</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Ground truth by anomaly injection</a:t>
            </a:r>
            <a:endParaRPr lang="en-US" sz="3600" dirty="0"/>
          </a:p>
        </p:txBody>
      </p:sp>
      <p:sp>
        <p:nvSpPr>
          <p:cNvPr id="4" name="Shape 2"/>
          <p:cNvSpPr/>
          <p:nvPr/>
        </p:nvSpPr>
        <p:spPr>
          <a:xfrm>
            <a:off x="819150" y="1941779"/>
            <a:ext cx="5168900" cy="1937808"/>
          </a:xfrm>
          <a:prstGeom prst="roundRect">
            <a:avLst>
              <a:gd name="adj" fmla="val 4915"/>
            </a:avLst>
          </a:prstGeom>
          <a:solidFill>
            <a:srgbClr val="FDFCFA"/>
          </a:solidFill>
          <a:ln w="12700">
            <a:solidFill>
              <a:srgbClr val="E2DED5"/>
            </a:solidFill>
            <a:prstDash val="solid"/>
          </a:ln>
        </p:spPr>
      </p:sp>
      <p:sp>
        <p:nvSpPr>
          <p:cNvPr id="5" name="Text 3"/>
          <p:cNvSpPr/>
          <p:nvPr/>
        </p:nvSpPr>
        <p:spPr>
          <a:xfrm>
            <a:off x="1130300" y="2252929"/>
            <a:ext cx="4682998"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Rule-based anomalies</a:t>
            </a:r>
            <a:endParaRPr lang="en-US" sz="2200" dirty="0"/>
          </a:p>
        </p:txBody>
      </p:sp>
      <p:sp>
        <p:nvSpPr>
          <p:cNvPr id="6" name="Text 4"/>
          <p:cNvSpPr/>
          <p:nvPr/>
        </p:nvSpPr>
        <p:spPr>
          <a:xfrm>
            <a:off x="1130300" y="2715158"/>
            <a:ext cx="4682998"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Violate one rule, e.g. cumulative GPA above 4.0, semester credits above 24, exit period before entry</a:t>
            </a:r>
            <a:endParaRPr lang="en-US" sz="1600" dirty="0"/>
          </a:p>
        </p:txBody>
      </p:sp>
      <p:sp>
        <p:nvSpPr>
          <p:cNvPr id="7" name="Shape 5"/>
          <p:cNvSpPr/>
          <p:nvPr/>
        </p:nvSpPr>
        <p:spPr>
          <a:xfrm>
            <a:off x="6203950" y="1941779"/>
            <a:ext cx="5168900" cy="1937808"/>
          </a:xfrm>
          <a:prstGeom prst="roundRect">
            <a:avLst>
              <a:gd name="adj" fmla="val 4915"/>
            </a:avLst>
          </a:prstGeom>
          <a:solidFill>
            <a:srgbClr val="FDFCFA"/>
          </a:solidFill>
          <a:ln w="12700">
            <a:solidFill>
              <a:srgbClr val="E2DED5"/>
            </a:solidFill>
            <a:prstDash val="solid"/>
          </a:ln>
        </p:spPr>
      </p:sp>
      <p:sp>
        <p:nvSpPr>
          <p:cNvPr id="8" name="Text 6"/>
          <p:cNvSpPr/>
          <p:nvPr/>
        </p:nvSpPr>
        <p:spPr>
          <a:xfrm>
            <a:off x="6515100" y="2252929"/>
            <a:ext cx="4682998"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Subtle anomalies</a:t>
            </a:r>
            <a:endParaRPr lang="en-US" sz="2200" dirty="0"/>
          </a:p>
        </p:txBody>
      </p:sp>
      <p:sp>
        <p:nvSpPr>
          <p:cNvPr id="9" name="Text 7"/>
          <p:cNvSpPr/>
          <p:nvPr/>
        </p:nvSpPr>
        <p:spPr>
          <a:xfrm>
            <a:off x="6515100" y="2715158"/>
            <a:ext cx="4682998"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Stay within every rule threshold but deviate in combination, e.g. high credit load with very low GPA</a:t>
            </a:r>
            <a:endParaRPr lang="en-US" sz="1600" dirty="0"/>
          </a:p>
        </p:txBody>
      </p:sp>
      <p:sp>
        <p:nvSpPr>
          <p:cNvPr id="10" name="Shape 8"/>
          <p:cNvSpPr/>
          <p:nvPr/>
        </p:nvSpPr>
        <p:spPr>
          <a:xfrm>
            <a:off x="812800" y="4203440"/>
            <a:ext cx="2928475" cy="0"/>
          </a:xfrm>
          <a:prstGeom prst="line">
            <a:avLst/>
          </a:prstGeom>
          <a:noFill/>
          <a:ln w="25400">
            <a:solidFill>
              <a:srgbClr val="14213D"/>
            </a:solidFill>
            <a:prstDash val="solid"/>
          </a:ln>
        </p:spPr>
      </p:sp>
      <p:sp>
        <p:nvSpPr>
          <p:cNvPr id="11" name="Text 9"/>
          <p:cNvSpPr/>
          <p:nvPr/>
        </p:nvSpPr>
        <p:spPr>
          <a:xfrm>
            <a:off x="812800" y="4368540"/>
            <a:ext cx="3016329"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Source Serif 4" pitchFamily="18" charset="0"/>
                <a:ea typeface="Source Serif 4" pitchFamily="18" charset="-122"/>
                <a:cs typeface="Source Serif 4" pitchFamily="18" charset="-120"/>
              </a:rPr>
              <a:t>5%</a:t>
            </a:r>
            <a:endParaRPr lang="en-US" sz="3600" dirty="0"/>
          </a:p>
        </p:txBody>
      </p:sp>
      <p:sp>
        <p:nvSpPr>
          <p:cNvPr id="12" name="Text 10"/>
          <p:cNvSpPr/>
          <p:nvPr/>
        </p:nvSpPr>
        <p:spPr>
          <a:xfrm>
            <a:off x="812800" y="4922242"/>
            <a:ext cx="301632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of each entity’s records injected, split equally across its types</a:t>
            </a:r>
            <a:endParaRPr lang="en-US" sz="1200" dirty="0"/>
          </a:p>
        </p:txBody>
      </p:sp>
      <p:sp>
        <p:nvSpPr>
          <p:cNvPr id="13" name="Shape 11"/>
          <p:cNvSpPr/>
          <p:nvPr/>
        </p:nvSpPr>
        <p:spPr>
          <a:xfrm>
            <a:off x="4046075" y="4203440"/>
            <a:ext cx="2928475" cy="0"/>
          </a:xfrm>
          <a:prstGeom prst="line">
            <a:avLst/>
          </a:prstGeom>
          <a:noFill/>
          <a:ln w="25400">
            <a:solidFill>
              <a:srgbClr val="14213D"/>
            </a:solidFill>
            <a:prstDash val="solid"/>
          </a:ln>
        </p:spPr>
      </p:sp>
      <p:sp>
        <p:nvSpPr>
          <p:cNvPr id="14" name="Text 12"/>
          <p:cNvSpPr/>
          <p:nvPr/>
        </p:nvSpPr>
        <p:spPr>
          <a:xfrm>
            <a:off x="4046075" y="4368540"/>
            <a:ext cx="3016329"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Source Serif 4" pitchFamily="18" charset="0"/>
                <a:ea typeface="Source Serif 4" pitchFamily="18" charset="-122"/>
                <a:cs typeface="Source Serif 4" pitchFamily="18" charset="-120"/>
              </a:rPr>
              <a:t>10</a:t>
            </a:r>
            <a:endParaRPr lang="en-US" sz="3600" dirty="0"/>
          </a:p>
        </p:txBody>
      </p:sp>
      <p:sp>
        <p:nvSpPr>
          <p:cNvPr id="15" name="Text 13"/>
          <p:cNvSpPr/>
          <p:nvPr/>
        </p:nvSpPr>
        <p:spPr>
          <a:xfrm>
            <a:off x="4046075" y="4922242"/>
            <a:ext cx="30163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random seeds; results are mean ± std</a:t>
            </a:r>
            <a:endParaRPr lang="en-US" sz="1200" dirty="0"/>
          </a:p>
        </p:txBody>
      </p:sp>
      <p:sp>
        <p:nvSpPr>
          <p:cNvPr id="16" name="Shape 14"/>
          <p:cNvSpPr/>
          <p:nvPr/>
        </p:nvSpPr>
        <p:spPr>
          <a:xfrm>
            <a:off x="7279349" y="4203440"/>
            <a:ext cx="4099851" cy="0"/>
          </a:xfrm>
          <a:prstGeom prst="line">
            <a:avLst/>
          </a:prstGeom>
          <a:noFill/>
          <a:ln w="25400">
            <a:solidFill>
              <a:srgbClr val="14213D"/>
            </a:solidFill>
            <a:prstDash val="solid"/>
          </a:ln>
        </p:spPr>
      </p:sp>
      <p:sp>
        <p:nvSpPr>
          <p:cNvPr id="17" name="Text 15"/>
          <p:cNvSpPr/>
          <p:nvPr/>
        </p:nvSpPr>
        <p:spPr>
          <a:xfrm>
            <a:off x="7279349" y="4368540"/>
            <a:ext cx="422284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5568"/>
                </a:solidFill>
                <a:latin typeface="IBM Plex Sans" pitchFamily="34" charset="0"/>
                <a:ea typeface="IBM Plex Sans" pitchFamily="34" charset="-122"/>
                <a:cs typeface="IBM Plex Sans" pitchFamily="34" charset="-120"/>
              </a:rPr>
              <a:t>TYPES PER ENTITY</a:t>
            </a:r>
            <a:endParaRPr lang="en-US" sz="1200" dirty="0"/>
          </a:p>
        </p:txBody>
      </p:sp>
      <p:sp>
        <p:nvSpPr>
          <p:cNvPr id="18" name="Text 16"/>
          <p:cNvSpPr/>
          <p:nvPr/>
        </p:nvSpPr>
        <p:spPr>
          <a:xfrm>
            <a:off x="7279349" y="4632660"/>
            <a:ext cx="422284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Student-semester: 4 rule-based + 1 subtle</a:t>
            </a:r>
            <a:endParaRPr lang="en-US" sz="1200" dirty="0"/>
          </a:p>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Course: 3 rule-based</a:t>
            </a:r>
            <a:endParaRPr lang="en-US" sz="1200" dirty="0"/>
          </a:p>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Teaching: 1 rule-based + 1 subtle</a:t>
            </a:r>
            <a:endParaRPr lang="en-US" sz="12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9 · Compliance anomaly detection in PDDIKTI data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A"/>
                </a:solidFill>
                <a:latin typeface="IBM Plex Sans" pitchFamily="34" charset="0"/>
                <a:ea typeface="IBM Plex Sans" pitchFamily="34" charset="-122"/>
                <a:cs typeface="IBM Plex Sans" pitchFamily="34" charset="-120"/>
              </a:rPr>
              <a:t>RESULTS · AUC AND PRECISION@K</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Detection quality by entity</a:t>
            </a:r>
            <a:endParaRPr lang="en-US" sz="3600" dirty="0"/>
          </a:p>
        </p:txBody>
      </p:sp>
      <p:sp>
        <p:nvSpPr>
          <p:cNvPr id="4" name="Shape 2"/>
          <p:cNvSpPr/>
          <p:nvPr/>
        </p:nvSpPr>
        <p:spPr>
          <a:xfrm>
            <a:off x="863600" y="2156158"/>
            <a:ext cx="3420533" cy="0"/>
          </a:xfrm>
          <a:prstGeom prst="line">
            <a:avLst/>
          </a:prstGeom>
          <a:noFill/>
          <a:ln w="19050">
            <a:solidFill>
              <a:srgbClr val="B4501A"/>
            </a:solidFill>
            <a:prstDash val="solid"/>
          </a:ln>
        </p:spPr>
      </p:sp>
      <p:sp>
        <p:nvSpPr>
          <p:cNvPr id="5" name="Text 3"/>
          <p:cNvSpPr/>
          <p:nvPr/>
        </p:nvSpPr>
        <p:spPr>
          <a:xfrm>
            <a:off x="863600" y="1884629"/>
            <a:ext cx="352314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Student-semester</a:t>
            </a:r>
            <a:endParaRPr lang="en-US" sz="1200" dirty="0"/>
          </a:p>
        </p:txBody>
      </p:sp>
      <p:sp>
        <p:nvSpPr>
          <p:cNvPr id="6" name="Shape 4"/>
          <p:cNvSpPr/>
          <p:nvPr/>
        </p:nvSpPr>
        <p:spPr>
          <a:xfrm>
            <a:off x="4385733" y="2156158"/>
            <a:ext cx="3420533" cy="0"/>
          </a:xfrm>
          <a:prstGeom prst="line">
            <a:avLst/>
          </a:prstGeom>
          <a:noFill/>
          <a:ln w="19050">
            <a:solidFill>
              <a:srgbClr val="B4501A"/>
            </a:solidFill>
            <a:prstDash val="solid"/>
          </a:ln>
        </p:spPr>
      </p:sp>
      <p:sp>
        <p:nvSpPr>
          <p:cNvPr id="7" name="Text 5"/>
          <p:cNvSpPr/>
          <p:nvPr/>
        </p:nvSpPr>
        <p:spPr>
          <a:xfrm>
            <a:off x="4385733" y="1884629"/>
            <a:ext cx="352314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Course</a:t>
            </a:r>
            <a:endParaRPr lang="en-US" sz="1200" dirty="0"/>
          </a:p>
        </p:txBody>
      </p:sp>
      <p:sp>
        <p:nvSpPr>
          <p:cNvPr id="8" name="Shape 6"/>
          <p:cNvSpPr/>
          <p:nvPr/>
        </p:nvSpPr>
        <p:spPr>
          <a:xfrm>
            <a:off x="7907867" y="2156158"/>
            <a:ext cx="3420533" cy="0"/>
          </a:xfrm>
          <a:prstGeom prst="line">
            <a:avLst/>
          </a:prstGeom>
          <a:noFill/>
          <a:ln w="19050">
            <a:solidFill>
              <a:srgbClr val="B4501A"/>
            </a:solidFill>
            <a:prstDash val="solid"/>
          </a:ln>
        </p:spPr>
      </p:sp>
      <p:sp>
        <p:nvSpPr>
          <p:cNvPr id="9" name="Text 7"/>
          <p:cNvSpPr/>
          <p:nvPr/>
        </p:nvSpPr>
        <p:spPr>
          <a:xfrm>
            <a:off x="7907867" y="1884629"/>
            <a:ext cx="352314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Teaching</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5500" y="2229185"/>
          <a:ext cx="10553700" cy="2315766"/>
        </p:xfrm>
        <a:graphic>
          <a:graphicData uri="http://schemas.openxmlformats.org/drawingml/2006/table">
            <a:tbl>
              <a:tblPr/>
              <a:tblGrid>
                <a:gridCol w="1946799"/>
                <a:gridCol w="1434483"/>
                <a:gridCol w="1434483"/>
                <a:gridCol w="1434483"/>
                <a:gridCol w="1434483"/>
                <a:gridCol w="1434483"/>
                <a:gridCol w="1434483"/>
              </a:tblGrid>
              <a:tr h="385961">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Method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ct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AUC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ct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ct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AUC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ct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ct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AUC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ct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Rules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0.904±0.004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0.810±0.008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1.000±0.000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1.000±0.000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0.750±0.000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0.513±0.016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Isolation Forest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0.826±0.009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0.237±0.044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0.983±0.005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0.700±0.092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0.979±0.005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0.818±0.041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LOF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0.884±0.015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0.386±0.029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0.993±0.006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0.906±0.027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0.865±0.037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0.785±0.036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Autoencoder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0.888±0.033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0.515±0.058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0.908±0.097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0.506±0.173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0.872±0.077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0.420±0.199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Combined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5"/>
                    </a:solidFill>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0.982±0.006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8BCC3"/>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5"/>
                    </a:solidFill>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0.823±0.018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8BCC3"/>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5"/>
                    </a:solidFill>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1.000±0.000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8BCC3"/>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5"/>
                    </a:solidFill>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1.000±0.000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8BCC3"/>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5"/>
                    </a:solidFill>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0.971±0.012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8BCC3"/>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5"/>
                    </a:solidFill>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0.820±0.043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8BCC3"/>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5"/>
                    </a:solidFill>
                  </a:tcPr>
                </a:tc>
              </a:tr>
            </a:tbl>
          </a:graphicData>
        </a:graphic>
      </p:graphicFrame>
      <p:sp>
        <p:nvSpPr>
          <p:cNvPr id="11" name="Text 8"/>
          <p:cNvSpPr/>
          <p:nvPr/>
        </p:nvSpPr>
        <p:spPr>
          <a:xfrm>
            <a:off x="812800" y="479895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Mean ± std over 10 injections; k = number of injected anomalies. Bold = best in its column.</a:t>
            </a:r>
            <a:endParaRPr lang="en-US" sz="12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10 · Compliance anomaly detection in PDDIKTI data</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A"/>
                </a:solidFill>
                <a:latin typeface="IBM Plex Sans" pitchFamily="34" charset="0"/>
                <a:ea typeface="IBM Plex Sans" pitchFamily="34" charset="-122"/>
                <a:cs typeface="IBM Plex Sans" pitchFamily="34" charset="-120"/>
              </a:rPr>
              <a:t>RESULTS · TOP-K RECALL OF SUBTLE ANOMALIES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Recall depends on the entity</a:t>
            </a:r>
            <a:endParaRPr lang="en-US" sz="3600" dirty="0"/>
          </a:p>
        </p:txBody>
      </p:sp>
      <p:sp>
        <p:nvSpPr>
          <p:cNvPr id="4" name="Text 2"/>
          <p:cNvSpPr/>
          <p:nvPr/>
        </p:nvSpPr>
        <p:spPr>
          <a:xfrm>
            <a:off x="812800" y="1935429"/>
            <a:ext cx="5337048"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Student-semester</a:t>
            </a:r>
            <a:endParaRPr lang="en-US" sz="2200" dirty="0"/>
          </a:p>
        </p:txBody>
      </p:sp>
      <p:sp>
        <p:nvSpPr>
          <p:cNvPr id="5" name="Text 3"/>
          <p:cNvSpPr/>
          <p:nvPr/>
        </p:nvSpPr>
        <p:spPr>
          <a:xfrm>
            <a:off x="812800" y="2433179"/>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Rules</a:t>
            </a:r>
            <a:endParaRPr lang="en-US" sz="1200" dirty="0"/>
          </a:p>
        </p:txBody>
      </p:sp>
      <p:sp>
        <p:nvSpPr>
          <p:cNvPr id="6" name="Shape 4"/>
          <p:cNvSpPr/>
          <p:nvPr/>
        </p:nvSpPr>
        <p:spPr>
          <a:xfrm>
            <a:off x="2438400" y="2438270"/>
            <a:ext cx="2540000" cy="203200"/>
          </a:xfrm>
          <a:prstGeom prst="rect">
            <a:avLst/>
          </a:prstGeom>
          <a:solidFill>
            <a:srgbClr val="E7E3DA"/>
          </a:solidFill>
          <a:ln/>
        </p:spPr>
      </p:sp>
      <p:sp>
        <p:nvSpPr>
          <p:cNvPr id="7" name="Shape 5"/>
          <p:cNvSpPr/>
          <p:nvPr/>
        </p:nvSpPr>
        <p:spPr>
          <a:xfrm>
            <a:off x="2438400" y="2438270"/>
            <a:ext cx="127000" cy="203200"/>
          </a:xfrm>
          <a:prstGeom prst="rect">
            <a:avLst/>
          </a:prstGeom>
          <a:solidFill>
            <a:srgbClr val="2B5C9E"/>
          </a:solidFill>
          <a:ln/>
        </p:spPr>
      </p:sp>
      <p:sp>
        <p:nvSpPr>
          <p:cNvPr id="8" name="Text 6"/>
          <p:cNvSpPr/>
          <p:nvPr/>
        </p:nvSpPr>
        <p:spPr>
          <a:xfrm>
            <a:off x="5080000" y="2397658"/>
            <a:ext cx="685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0.049</a:t>
            </a:r>
            <a:endParaRPr lang="en-US" sz="1600" dirty="0"/>
          </a:p>
        </p:txBody>
      </p:sp>
      <p:sp>
        <p:nvSpPr>
          <p:cNvPr id="9" name="Text 7"/>
          <p:cNvSpPr/>
          <p:nvPr/>
        </p:nvSpPr>
        <p:spPr>
          <a:xfrm>
            <a:off x="812800" y="2844602"/>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Isolation Forest</a:t>
            </a:r>
            <a:endParaRPr lang="en-US" sz="1200" dirty="0"/>
          </a:p>
        </p:txBody>
      </p:sp>
      <p:sp>
        <p:nvSpPr>
          <p:cNvPr id="10" name="Shape 8"/>
          <p:cNvSpPr/>
          <p:nvPr/>
        </p:nvSpPr>
        <p:spPr>
          <a:xfrm>
            <a:off x="2438400" y="2849699"/>
            <a:ext cx="2540000" cy="203200"/>
          </a:xfrm>
          <a:prstGeom prst="rect">
            <a:avLst/>
          </a:prstGeom>
          <a:solidFill>
            <a:srgbClr val="E7E3DA"/>
          </a:solidFill>
          <a:ln/>
        </p:spPr>
      </p:sp>
      <p:sp>
        <p:nvSpPr>
          <p:cNvPr id="11" name="Shape 9"/>
          <p:cNvSpPr/>
          <p:nvPr/>
        </p:nvSpPr>
        <p:spPr>
          <a:xfrm>
            <a:off x="2438400" y="2849699"/>
            <a:ext cx="38100" cy="203200"/>
          </a:xfrm>
          <a:prstGeom prst="rect">
            <a:avLst/>
          </a:prstGeom>
          <a:solidFill>
            <a:srgbClr val="2B5C9E"/>
          </a:solidFill>
          <a:ln/>
        </p:spPr>
      </p:sp>
      <p:sp>
        <p:nvSpPr>
          <p:cNvPr id="12" name="Text 10"/>
          <p:cNvSpPr/>
          <p:nvPr/>
        </p:nvSpPr>
        <p:spPr>
          <a:xfrm>
            <a:off x="5080000" y="2809081"/>
            <a:ext cx="685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0.015</a:t>
            </a:r>
            <a:endParaRPr lang="en-US" sz="1600" dirty="0"/>
          </a:p>
        </p:txBody>
      </p:sp>
      <p:sp>
        <p:nvSpPr>
          <p:cNvPr id="13" name="Text 11"/>
          <p:cNvSpPr/>
          <p:nvPr/>
        </p:nvSpPr>
        <p:spPr>
          <a:xfrm>
            <a:off x="812800" y="3256031"/>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LOF</a:t>
            </a:r>
            <a:endParaRPr lang="en-US" sz="1200" dirty="0"/>
          </a:p>
        </p:txBody>
      </p:sp>
      <p:sp>
        <p:nvSpPr>
          <p:cNvPr id="14" name="Shape 12"/>
          <p:cNvSpPr/>
          <p:nvPr/>
        </p:nvSpPr>
        <p:spPr>
          <a:xfrm>
            <a:off x="2438400" y="3261122"/>
            <a:ext cx="2540000" cy="203200"/>
          </a:xfrm>
          <a:prstGeom prst="rect">
            <a:avLst/>
          </a:prstGeom>
          <a:solidFill>
            <a:srgbClr val="E7E3DA"/>
          </a:solidFill>
          <a:ln/>
        </p:spPr>
      </p:sp>
      <p:sp>
        <p:nvSpPr>
          <p:cNvPr id="15" name="Shape 13"/>
          <p:cNvSpPr/>
          <p:nvPr/>
        </p:nvSpPr>
        <p:spPr>
          <a:xfrm>
            <a:off x="2438400" y="3261122"/>
            <a:ext cx="781050" cy="203200"/>
          </a:xfrm>
          <a:prstGeom prst="rect">
            <a:avLst/>
          </a:prstGeom>
          <a:solidFill>
            <a:srgbClr val="2B5C9E"/>
          </a:solidFill>
          <a:ln/>
        </p:spPr>
      </p:sp>
      <p:sp>
        <p:nvSpPr>
          <p:cNvPr id="16" name="Text 14"/>
          <p:cNvSpPr/>
          <p:nvPr/>
        </p:nvSpPr>
        <p:spPr>
          <a:xfrm>
            <a:off x="5080000" y="3220510"/>
            <a:ext cx="685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0.308</a:t>
            </a:r>
            <a:endParaRPr lang="en-US" sz="1600" dirty="0"/>
          </a:p>
        </p:txBody>
      </p:sp>
      <p:sp>
        <p:nvSpPr>
          <p:cNvPr id="17" name="Text 15"/>
          <p:cNvSpPr/>
          <p:nvPr/>
        </p:nvSpPr>
        <p:spPr>
          <a:xfrm>
            <a:off x="812800" y="3667460"/>
            <a:ext cx="1574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Autoencoder</a:t>
            </a:r>
            <a:endParaRPr lang="en-US" sz="1200" dirty="0"/>
          </a:p>
        </p:txBody>
      </p:sp>
      <p:sp>
        <p:nvSpPr>
          <p:cNvPr id="18" name="Shape 16"/>
          <p:cNvSpPr/>
          <p:nvPr/>
        </p:nvSpPr>
        <p:spPr>
          <a:xfrm>
            <a:off x="2438400" y="3672551"/>
            <a:ext cx="2540000" cy="203200"/>
          </a:xfrm>
          <a:prstGeom prst="rect">
            <a:avLst/>
          </a:prstGeom>
          <a:solidFill>
            <a:srgbClr val="E7E3DA"/>
          </a:solidFill>
          <a:ln/>
        </p:spPr>
      </p:sp>
      <p:sp>
        <p:nvSpPr>
          <p:cNvPr id="19" name="Shape 17"/>
          <p:cNvSpPr/>
          <p:nvPr/>
        </p:nvSpPr>
        <p:spPr>
          <a:xfrm>
            <a:off x="2438400" y="3672551"/>
            <a:ext cx="990600" cy="203200"/>
          </a:xfrm>
          <a:prstGeom prst="rect">
            <a:avLst/>
          </a:prstGeom>
          <a:solidFill>
            <a:srgbClr val="B4501A"/>
          </a:solidFill>
          <a:ln/>
        </p:spPr>
      </p:sp>
      <p:sp>
        <p:nvSpPr>
          <p:cNvPr id="20" name="Text 18"/>
          <p:cNvSpPr/>
          <p:nvPr/>
        </p:nvSpPr>
        <p:spPr>
          <a:xfrm>
            <a:off x="5080000" y="3631940"/>
            <a:ext cx="6858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0.390</a:t>
            </a:r>
            <a:endParaRPr lang="en-US" sz="1600" dirty="0"/>
          </a:p>
        </p:txBody>
      </p:sp>
      <p:sp>
        <p:nvSpPr>
          <p:cNvPr id="21" name="Text 19"/>
          <p:cNvSpPr/>
          <p:nvPr/>
        </p:nvSpPr>
        <p:spPr>
          <a:xfrm>
            <a:off x="812800" y="4078883"/>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Combined</a:t>
            </a:r>
            <a:endParaRPr lang="en-US" sz="1200" dirty="0"/>
          </a:p>
        </p:txBody>
      </p:sp>
      <p:sp>
        <p:nvSpPr>
          <p:cNvPr id="22" name="Shape 20"/>
          <p:cNvSpPr/>
          <p:nvPr/>
        </p:nvSpPr>
        <p:spPr>
          <a:xfrm>
            <a:off x="2438400" y="4083980"/>
            <a:ext cx="2540000" cy="203200"/>
          </a:xfrm>
          <a:prstGeom prst="rect">
            <a:avLst/>
          </a:prstGeom>
          <a:solidFill>
            <a:srgbClr val="E7E3DA"/>
          </a:solidFill>
          <a:ln/>
        </p:spPr>
      </p:sp>
      <p:sp>
        <p:nvSpPr>
          <p:cNvPr id="23" name="Shape 21"/>
          <p:cNvSpPr/>
          <p:nvPr/>
        </p:nvSpPr>
        <p:spPr>
          <a:xfrm>
            <a:off x="2438400" y="4083980"/>
            <a:ext cx="285750" cy="203200"/>
          </a:xfrm>
          <a:prstGeom prst="rect">
            <a:avLst/>
          </a:prstGeom>
          <a:solidFill>
            <a:srgbClr val="2B5C9E"/>
          </a:solidFill>
          <a:ln/>
        </p:spPr>
      </p:sp>
      <p:sp>
        <p:nvSpPr>
          <p:cNvPr id="24" name="Text 22"/>
          <p:cNvSpPr/>
          <p:nvPr/>
        </p:nvSpPr>
        <p:spPr>
          <a:xfrm>
            <a:off x="5080000" y="4043363"/>
            <a:ext cx="685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0.113</a:t>
            </a:r>
            <a:endParaRPr lang="en-US" sz="1600" dirty="0"/>
          </a:p>
        </p:txBody>
      </p:sp>
      <p:sp>
        <p:nvSpPr>
          <p:cNvPr id="25" name="Shape 23"/>
          <p:cNvSpPr/>
          <p:nvPr/>
        </p:nvSpPr>
        <p:spPr>
          <a:xfrm>
            <a:off x="812800" y="4461142"/>
            <a:ext cx="5181600" cy="0"/>
          </a:xfrm>
          <a:prstGeom prst="line">
            <a:avLst/>
          </a:prstGeom>
          <a:noFill/>
          <a:ln w="12700">
            <a:solidFill>
              <a:srgbClr val="C9C3B6"/>
            </a:solidFill>
            <a:prstDash val="solid"/>
          </a:ln>
        </p:spPr>
      </p:sp>
      <p:sp>
        <p:nvSpPr>
          <p:cNvPr id="26" name="Text 24"/>
          <p:cNvSpPr/>
          <p:nvPr/>
        </p:nvSpPr>
        <p:spPr>
          <a:xfrm>
            <a:off x="812800" y="4569092"/>
            <a:ext cx="53370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Rule-based anomalies: Rules 1.000 · IF 0.293 · LOF 0.405 · AE 0.547 · Combined 1.000</a:t>
            </a:r>
            <a:endParaRPr lang="en-US" sz="1200" dirty="0"/>
          </a:p>
        </p:txBody>
      </p:sp>
      <p:sp>
        <p:nvSpPr>
          <p:cNvPr id="27" name="Text 25"/>
          <p:cNvSpPr/>
          <p:nvPr/>
        </p:nvSpPr>
        <p:spPr>
          <a:xfrm>
            <a:off x="6197600" y="1935429"/>
            <a:ext cx="5337048"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Teaching</a:t>
            </a:r>
            <a:endParaRPr lang="en-US" sz="2200" dirty="0"/>
          </a:p>
        </p:txBody>
      </p:sp>
      <p:sp>
        <p:nvSpPr>
          <p:cNvPr id="28" name="Text 26"/>
          <p:cNvSpPr/>
          <p:nvPr/>
        </p:nvSpPr>
        <p:spPr>
          <a:xfrm>
            <a:off x="6197600" y="2433179"/>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Rules</a:t>
            </a:r>
            <a:endParaRPr lang="en-US" sz="1200" dirty="0"/>
          </a:p>
        </p:txBody>
      </p:sp>
      <p:sp>
        <p:nvSpPr>
          <p:cNvPr id="29" name="Shape 27"/>
          <p:cNvSpPr/>
          <p:nvPr/>
        </p:nvSpPr>
        <p:spPr>
          <a:xfrm>
            <a:off x="7823200" y="2438270"/>
            <a:ext cx="2540000" cy="203200"/>
          </a:xfrm>
          <a:prstGeom prst="rect">
            <a:avLst/>
          </a:prstGeom>
          <a:solidFill>
            <a:srgbClr val="E7E3DA"/>
          </a:solidFill>
          <a:ln/>
        </p:spPr>
      </p:sp>
      <p:sp>
        <p:nvSpPr>
          <p:cNvPr id="30" name="Shape 28"/>
          <p:cNvSpPr/>
          <p:nvPr/>
        </p:nvSpPr>
        <p:spPr>
          <a:xfrm>
            <a:off x="7823200" y="2438270"/>
            <a:ext cx="69850" cy="203200"/>
          </a:xfrm>
          <a:prstGeom prst="rect">
            <a:avLst/>
          </a:prstGeom>
          <a:solidFill>
            <a:srgbClr val="2B5C9E"/>
          </a:solidFill>
          <a:ln/>
        </p:spPr>
      </p:sp>
      <p:sp>
        <p:nvSpPr>
          <p:cNvPr id="31" name="Text 29"/>
          <p:cNvSpPr/>
          <p:nvPr/>
        </p:nvSpPr>
        <p:spPr>
          <a:xfrm>
            <a:off x="10464800" y="2397658"/>
            <a:ext cx="685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0.027</a:t>
            </a:r>
            <a:endParaRPr lang="en-US" sz="1600" dirty="0"/>
          </a:p>
        </p:txBody>
      </p:sp>
      <p:sp>
        <p:nvSpPr>
          <p:cNvPr id="32" name="Text 30"/>
          <p:cNvSpPr/>
          <p:nvPr/>
        </p:nvSpPr>
        <p:spPr>
          <a:xfrm>
            <a:off x="6197600" y="2844602"/>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Isolation Forest</a:t>
            </a:r>
            <a:endParaRPr lang="en-US" sz="1200" dirty="0"/>
          </a:p>
        </p:txBody>
      </p:sp>
      <p:sp>
        <p:nvSpPr>
          <p:cNvPr id="33" name="Shape 31"/>
          <p:cNvSpPr/>
          <p:nvPr/>
        </p:nvSpPr>
        <p:spPr>
          <a:xfrm>
            <a:off x="7823200" y="2849699"/>
            <a:ext cx="2540000" cy="203200"/>
          </a:xfrm>
          <a:prstGeom prst="rect">
            <a:avLst/>
          </a:prstGeom>
          <a:solidFill>
            <a:srgbClr val="E7E3DA"/>
          </a:solidFill>
          <a:ln/>
        </p:spPr>
      </p:sp>
      <p:sp>
        <p:nvSpPr>
          <p:cNvPr id="34" name="Shape 32"/>
          <p:cNvSpPr/>
          <p:nvPr/>
        </p:nvSpPr>
        <p:spPr>
          <a:xfrm>
            <a:off x="7823200" y="2849699"/>
            <a:ext cx="1676400" cy="203200"/>
          </a:xfrm>
          <a:prstGeom prst="rect">
            <a:avLst/>
          </a:prstGeom>
          <a:solidFill>
            <a:srgbClr val="2B5C9E"/>
          </a:solidFill>
          <a:ln/>
        </p:spPr>
      </p:sp>
      <p:sp>
        <p:nvSpPr>
          <p:cNvPr id="35" name="Text 33"/>
          <p:cNvSpPr/>
          <p:nvPr/>
        </p:nvSpPr>
        <p:spPr>
          <a:xfrm>
            <a:off x="10464800" y="2809081"/>
            <a:ext cx="685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0.661</a:t>
            </a:r>
            <a:endParaRPr lang="en-US" sz="1600" dirty="0"/>
          </a:p>
        </p:txBody>
      </p:sp>
      <p:sp>
        <p:nvSpPr>
          <p:cNvPr id="36" name="Text 34"/>
          <p:cNvSpPr/>
          <p:nvPr/>
        </p:nvSpPr>
        <p:spPr>
          <a:xfrm>
            <a:off x="6197600" y="3256031"/>
            <a:ext cx="1574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LOF</a:t>
            </a:r>
            <a:endParaRPr lang="en-US" sz="1200" dirty="0"/>
          </a:p>
        </p:txBody>
      </p:sp>
      <p:sp>
        <p:nvSpPr>
          <p:cNvPr id="37" name="Shape 35"/>
          <p:cNvSpPr/>
          <p:nvPr/>
        </p:nvSpPr>
        <p:spPr>
          <a:xfrm>
            <a:off x="7823200" y="3261122"/>
            <a:ext cx="2540000" cy="203200"/>
          </a:xfrm>
          <a:prstGeom prst="rect">
            <a:avLst/>
          </a:prstGeom>
          <a:solidFill>
            <a:srgbClr val="E7E3DA"/>
          </a:solidFill>
          <a:ln/>
        </p:spPr>
      </p:sp>
      <p:sp>
        <p:nvSpPr>
          <p:cNvPr id="38" name="Shape 36"/>
          <p:cNvSpPr/>
          <p:nvPr/>
        </p:nvSpPr>
        <p:spPr>
          <a:xfrm>
            <a:off x="7823200" y="3261122"/>
            <a:ext cx="1695450" cy="203200"/>
          </a:xfrm>
          <a:prstGeom prst="rect">
            <a:avLst/>
          </a:prstGeom>
          <a:solidFill>
            <a:srgbClr val="B4501A"/>
          </a:solidFill>
          <a:ln/>
        </p:spPr>
      </p:sp>
      <p:sp>
        <p:nvSpPr>
          <p:cNvPr id="39" name="Text 37"/>
          <p:cNvSpPr/>
          <p:nvPr/>
        </p:nvSpPr>
        <p:spPr>
          <a:xfrm>
            <a:off x="10464800" y="3220510"/>
            <a:ext cx="6858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0.668</a:t>
            </a:r>
            <a:endParaRPr lang="en-US" sz="1600" dirty="0"/>
          </a:p>
        </p:txBody>
      </p:sp>
      <p:sp>
        <p:nvSpPr>
          <p:cNvPr id="40" name="Text 38"/>
          <p:cNvSpPr/>
          <p:nvPr/>
        </p:nvSpPr>
        <p:spPr>
          <a:xfrm>
            <a:off x="6197600" y="3667460"/>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Autoencoder</a:t>
            </a:r>
            <a:endParaRPr lang="en-US" sz="1200" dirty="0"/>
          </a:p>
        </p:txBody>
      </p:sp>
      <p:sp>
        <p:nvSpPr>
          <p:cNvPr id="41" name="Shape 39"/>
          <p:cNvSpPr/>
          <p:nvPr/>
        </p:nvSpPr>
        <p:spPr>
          <a:xfrm>
            <a:off x="7823200" y="3672551"/>
            <a:ext cx="2540000" cy="203200"/>
          </a:xfrm>
          <a:prstGeom prst="rect">
            <a:avLst/>
          </a:prstGeom>
          <a:solidFill>
            <a:srgbClr val="E7E3DA"/>
          </a:solidFill>
          <a:ln/>
        </p:spPr>
      </p:sp>
      <p:sp>
        <p:nvSpPr>
          <p:cNvPr id="42" name="Shape 40"/>
          <p:cNvSpPr/>
          <p:nvPr/>
        </p:nvSpPr>
        <p:spPr>
          <a:xfrm>
            <a:off x="7823200" y="3672551"/>
            <a:ext cx="368300" cy="203200"/>
          </a:xfrm>
          <a:prstGeom prst="rect">
            <a:avLst/>
          </a:prstGeom>
          <a:solidFill>
            <a:srgbClr val="2B5C9E"/>
          </a:solidFill>
          <a:ln/>
        </p:spPr>
      </p:sp>
      <p:sp>
        <p:nvSpPr>
          <p:cNvPr id="43" name="Text 41"/>
          <p:cNvSpPr/>
          <p:nvPr/>
        </p:nvSpPr>
        <p:spPr>
          <a:xfrm>
            <a:off x="10464800" y="3631940"/>
            <a:ext cx="685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0.144</a:t>
            </a:r>
            <a:endParaRPr lang="en-US" sz="1600" dirty="0"/>
          </a:p>
        </p:txBody>
      </p:sp>
      <p:sp>
        <p:nvSpPr>
          <p:cNvPr id="44" name="Text 42"/>
          <p:cNvSpPr/>
          <p:nvPr/>
        </p:nvSpPr>
        <p:spPr>
          <a:xfrm>
            <a:off x="6197600" y="4078883"/>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Combined</a:t>
            </a:r>
            <a:endParaRPr lang="en-US" sz="1200" dirty="0"/>
          </a:p>
        </p:txBody>
      </p:sp>
      <p:sp>
        <p:nvSpPr>
          <p:cNvPr id="45" name="Shape 43"/>
          <p:cNvSpPr/>
          <p:nvPr/>
        </p:nvSpPr>
        <p:spPr>
          <a:xfrm>
            <a:off x="7823200" y="4083980"/>
            <a:ext cx="2540000" cy="203200"/>
          </a:xfrm>
          <a:prstGeom prst="rect">
            <a:avLst/>
          </a:prstGeom>
          <a:solidFill>
            <a:srgbClr val="E7E3DA"/>
          </a:solidFill>
          <a:ln/>
        </p:spPr>
      </p:sp>
      <p:sp>
        <p:nvSpPr>
          <p:cNvPr id="46" name="Shape 44"/>
          <p:cNvSpPr/>
          <p:nvPr/>
        </p:nvSpPr>
        <p:spPr>
          <a:xfrm>
            <a:off x="7823200" y="4083980"/>
            <a:ext cx="1625600" cy="203200"/>
          </a:xfrm>
          <a:prstGeom prst="rect">
            <a:avLst/>
          </a:prstGeom>
          <a:solidFill>
            <a:srgbClr val="2B5C9E"/>
          </a:solidFill>
          <a:ln/>
        </p:spPr>
      </p:sp>
      <p:sp>
        <p:nvSpPr>
          <p:cNvPr id="47" name="Text 45"/>
          <p:cNvSpPr/>
          <p:nvPr/>
        </p:nvSpPr>
        <p:spPr>
          <a:xfrm>
            <a:off x="10464800" y="4043363"/>
            <a:ext cx="685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0.639</a:t>
            </a:r>
            <a:endParaRPr lang="en-US" sz="1600" dirty="0"/>
          </a:p>
        </p:txBody>
      </p:sp>
      <p:sp>
        <p:nvSpPr>
          <p:cNvPr id="48" name="Shape 46"/>
          <p:cNvSpPr/>
          <p:nvPr/>
        </p:nvSpPr>
        <p:spPr>
          <a:xfrm>
            <a:off x="6197600" y="4461142"/>
            <a:ext cx="5181600" cy="0"/>
          </a:xfrm>
          <a:prstGeom prst="line">
            <a:avLst/>
          </a:prstGeom>
          <a:noFill/>
          <a:ln w="12700">
            <a:solidFill>
              <a:srgbClr val="C9C3B6"/>
            </a:solidFill>
            <a:prstDash val="solid"/>
          </a:ln>
        </p:spPr>
      </p:sp>
      <p:sp>
        <p:nvSpPr>
          <p:cNvPr id="49" name="Text 47"/>
          <p:cNvSpPr/>
          <p:nvPr/>
        </p:nvSpPr>
        <p:spPr>
          <a:xfrm>
            <a:off x="6197600" y="4569092"/>
            <a:ext cx="53370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Rule-based anomalies: Rules 1.000 · IF 0.976 · LOF 0.902 · AE 0.695 · Combined 1.000</a:t>
            </a:r>
            <a:endParaRPr lang="en-US" sz="1200" dirty="0"/>
          </a:p>
        </p:txBody>
      </p:sp>
      <p:sp>
        <p:nvSpPr>
          <p:cNvPr id="50" name="Text 4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11 · Compliance anomaly detection in PDDIKTI data · mean over 10 injections; bold orange = best per entity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36B"/>
                </a:solidFill>
                <a:latin typeface="IBM Plex Sans" pitchFamily="34" charset="0"/>
                <a:ea typeface="IBM Plex Sans" pitchFamily="34" charset="-122"/>
                <a:cs typeface="IBM Plex Sans" pitchFamily="34" charset="-120"/>
              </a:rPr>
              <a:t>KEY FINDINGS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6F2"/>
                </a:solidFill>
                <a:latin typeface="Source Serif 4" pitchFamily="18" charset="0"/>
                <a:ea typeface="Source Serif 4" pitchFamily="18" charset="-122"/>
                <a:cs typeface="Source Serif 4" pitchFamily="18" charset="-120"/>
              </a:rPr>
              <a:t>What the results show</a:t>
            </a:r>
            <a:endParaRPr lang="en-US" sz="3600" dirty="0"/>
          </a:p>
        </p:txBody>
      </p:sp>
      <p:sp>
        <p:nvSpPr>
          <p:cNvPr id="4" name="Shape 2"/>
          <p:cNvSpPr/>
          <p:nvPr/>
        </p:nvSpPr>
        <p:spPr>
          <a:xfrm>
            <a:off x="812800" y="1998929"/>
            <a:ext cx="3318933" cy="0"/>
          </a:xfrm>
          <a:prstGeom prst="line">
            <a:avLst/>
          </a:prstGeom>
          <a:noFill/>
          <a:ln w="25400">
            <a:solidFill>
              <a:srgbClr val="F0A36B"/>
            </a:solidFill>
            <a:prstDash val="solid"/>
          </a:ln>
        </p:spPr>
      </p:sp>
      <p:sp>
        <p:nvSpPr>
          <p:cNvPr id="5" name="Text 3"/>
          <p:cNvSpPr/>
          <p:nvPr/>
        </p:nvSpPr>
        <p:spPr>
          <a:xfrm>
            <a:off x="812800" y="2164029"/>
            <a:ext cx="3418501"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F7F6F2"/>
                </a:solidFill>
                <a:latin typeface="Source Serif 4" pitchFamily="18" charset="0"/>
                <a:ea typeface="Source Serif 4" pitchFamily="18" charset="-122"/>
                <a:cs typeface="Source Serif 4" pitchFamily="18" charset="-120"/>
              </a:rPr>
              <a:t>0.982</a:t>
            </a:r>
            <a:endParaRPr lang="en-US" sz="6000" dirty="0"/>
          </a:p>
        </p:txBody>
      </p:sp>
      <p:sp>
        <p:nvSpPr>
          <p:cNvPr id="6" name="Text 4"/>
          <p:cNvSpPr/>
          <p:nvPr/>
        </p:nvSpPr>
        <p:spPr>
          <a:xfrm>
            <a:off x="812800" y="3078429"/>
            <a:ext cx="3418501" cy="116310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IBM Plex Sans" pitchFamily="34" charset="0"/>
                <a:ea typeface="IBM Plex Sans" pitchFamily="34" charset="-122"/>
                <a:cs typeface="IBM Plex Sans" pitchFamily="34" charset="-120"/>
              </a:rPr>
              <a:t>AUC of the combined detector on student-semester records, though it recovers only 0.113 of the subtle ones</a:t>
            </a:r>
            <a:endParaRPr lang="en-US" sz="1600" dirty="0"/>
          </a:p>
        </p:txBody>
      </p:sp>
      <p:sp>
        <p:nvSpPr>
          <p:cNvPr id="7" name="Shape 5"/>
          <p:cNvSpPr/>
          <p:nvPr/>
        </p:nvSpPr>
        <p:spPr>
          <a:xfrm>
            <a:off x="4436533" y="1998929"/>
            <a:ext cx="3318933" cy="0"/>
          </a:xfrm>
          <a:prstGeom prst="line">
            <a:avLst/>
          </a:prstGeom>
          <a:noFill/>
          <a:ln w="25400">
            <a:solidFill>
              <a:srgbClr val="F0A36B"/>
            </a:solidFill>
            <a:prstDash val="solid"/>
          </a:ln>
        </p:spPr>
      </p:sp>
      <p:sp>
        <p:nvSpPr>
          <p:cNvPr id="8" name="Text 6"/>
          <p:cNvSpPr/>
          <p:nvPr/>
        </p:nvSpPr>
        <p:spPr>
          <a:xfrm>
            <a:off x="4436533" y="2164029"/>
            <a:ext cx="3418501"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F7F6F2"/>
                </a:solidFill>
                <a:latin typeface="Source Serif 4" pitchFamily="18" charset="0"/>
                <a:ea typeface="Source Serif 4" pitchFamily="18" charset="-122"/>
                <a:cs typeface="Source Serif 4" pitchFamily="18" charset="-120"/>
              </a:rPr>
              <a:t>≈ 2/3</a:t>
            </a:r>
            <a:endParaRPr lang="en-US" sz="6000" dirty="0"/>
          </a:p>
        </p:txBody>
      </p:sp>
      <p:sp>
        <p:nvSpPr>
          <p:cNvPr id="9" name="Text 7"/>
          <p:cNvSpPr/>
          <p:nvPr/>
        </p:nvSpPr>
        <p:spPr>
          <a:xfrm>
            <a:off x="4436533" y="3078429"/>
            <a:ext cx="3418501"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IBM Plex Sans" pitchFamily="34" charset="0"/>
                <a:ea typeface="IBM Plex Sans" pitchFamily="34" charset="-122"/>
                <a:cs typeface="IBM Plex Sans" pitchFamily="34" charset="-120"/>
              </a:rPr>
              <a:t>of subtle teaching anomalies recovered by Isolation Forest and LOF</a:t>
            </a:r>
            <a:endParaRPr lang="en-US" sz="1600" dirty="0"/>
          </a:p>
        </p:txBody>
      </p:sp>
      <p:sp>
        <p:nvSpPr>
          <p:cNvPr id="10" name="Shape 8"/>
          <p:cNvSpPr/>
          <p:nvPr/>
        </p:nvSpPr>
        <p:spPr>
          <a:xfrm>
            <a:off x="8060267" y="1998929"/>
            <a:ext cx="3318933" cy="0"/>
          </a:xfrm>
          <a:prstGeom prst="line">
            <a:avLst/>
          </a:prstGeom>
          <a:noFill/>
          <a:ln w="25400">
            <a:solidFill>
              <a:srgbClr val="F0A36B"/>
            </a:solidFill>
            <a:prstDash val="solid"/>
          </a:ln>
        </p:spPr>
      </p:sp>
      <p:sp>
        <p:nvSpPr>
          <p:cNvPr id="11" name="Text 9"/>
          <p:cNvSpPr/>
          <p:nvPr/>
        </p:nvSpPr>
        <p:spPr>
          <a:xfrm>
            <a:off x="8060267" y="2164029"/>
            <a:ext cx="3418501"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F7F6F2"/>
                </a:solidFill>
                <a:latin typeface="Source Serif 4" pitchFamily="18" charset="0"/>
                <a:ea typeface="Source Serif 4" pitchFamily="18" charset="-122"/>
                <a:cs typeface="Source Serif 4" pitchFamily="18" charset="-120"/>
              </a:rPr>
              <a:t>39%</a:t>
            </a:r>
            <a:endParaRPr lang="en-US" sz="6000" dirty="0"/>
          </a:p>
        </p:txBody>
      </p:sp>
      <p:sp>
        <p:nvSpPr>
          <p:cNvPr id="12" name="Text 10"/>
          <p:cNvSpPr/>
          <p:nvPr/>
        </p:nvSpPr>
        <p:spPr>
          <a:xfrm>
            <a:off x="8060267" y="3078429"/>
            <a:ext cx="3418501"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IBM Plex Sans" pitchFamily="34" charset="0"/>
                <a:ea typeface="IBM Plex Sans" pitchFamily="34" charset="-122"/>
                <a:cs typeface="IBM Plex Sans" pitchFamily="34" charset="-120"/>
              </a:rPr>
              <a:t>best subtle recall on student-semester records, by the autoencoder</a:t>
            </a:r>
            <a:endParaRPr lang="en-US" sz="1600" dirty="0"/>
          </a:p>
        </p:txBody>
      </p:sp>
      <p:sp>
        <p:nvSpPr>
          <p:cNvPr id="13" name="Text 11"/>
          <p:cNvSpPr/>
          <p:nvPr/>
        </p:nvSpPr>
        <p:spPr>
          <a:xfrm>
            <a:off x="812800" y="4571740"/>
            <a:ext cx="10203180" cy="695854"/>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7F6F2"/>
                </a:solidFill>
                <a:latin typeface="Source Serif 4" pitchFamily="18" charset="0"/>
                <a:ea typeface="Source Serif 4" pitchFamily="18" charset="-122"/>
                <a:cs typeface="Source Serif 4" pitchFamily="18" charset="-120"/>
              </a:rPr>
              <a:t>Rules give exact, explainable detection of explicit violations; unsupervised detectors cover deviations that no rule describes.</a:t>
            </a:r>
            <a:endParaRPr lang="en-US" sz="2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12 · Compliance anomaly detection in PDDIKTI data</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A"/>
                </a:solidFill>
                <a:latin typeface="IBM Plex Sans" pitchFamily="34" charset="0"/>
                <a:ea typeface="IBM Plex Sans" pitchFamily="34" charset="-122"/>
                <a:cs typeface="IBM Plex Sans" pitchFamily="34" charset="-120"/>
              </a:rPr>
              <a:t>LIMITATIONS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A controlled setting</a:t>
            </a:r>
            <a:endParaRPr lang="en-US" sz="3600" dirty="0"/>
          </a:p>
        </p:txBody>
      </p:sp>
      <p:sp>
        <p:nvSpPr>
          <p:cNvPr id="4" name="Shape 2"/>
          <p:cNvSpPr/>
          <p:nvPr/>
        </p:nvSpPr>
        <p:spPr>
          <a:xfrm>
            <a:off x="812800" y="1992579"/>
            <a:ext cx="10566400" cy="0"/>
          </a:xfrm>
          <a:prstGeom prst="line">
            <a:avLst/>
          </a:prstGeom>
          <a:noFill/>
          <a:ln w="12700">
            <a:solidFill>
              <a:srgbClr val="C9C3B6"/>
            </a:solidFill>
            <a:prstDash val="solid"/>
          </a:ln>
        </p:spPr>
      </p:sp>
      <p:pic>
        <p:nvPicPr>
          <p:cNvPr id="5" name="Image 0" descr="Warning">    </p:cNvPr>
          <p:cNvPicPr>
            <a:picLocks noChangeAspect="1"/>
          </p:cNvPicPr>
          <p:nvPr/>
        </p:nvPicPr>
        <p:blipFill>
          <a:blip r:embed="rId1"/>
          <a:srcRect l="0" r="0" t="0" b="0"/>
          <a:stretch/>
        </p:blipFill>
        <p:spPr>
          <a:xfrm>
            <a:off x="812800" y="2166541"/>
            <a:ext cx="254000" cy="254000"/>
          </a:xfrm>
          <a:prstGeom prst="rect">
            <a:avLst/>
          </a:prstGeom>
        </p:spPr>
      </p:pic>
      <p:sp>
        <p:nvSpPr>
          <p:cNvPr id="6" name="Text 3"/>
          <p:cNvSpPr/>
          <p:nvPr/>
        </p:nvSpPr>
        <p:spPr>
          <a:xfrm>
            <a:off x="1270000" y="2151329"/>
            <a:ext cx="101092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Injected anomalies are synthetic: results measure detection capability, not the prevalence of real violations</a:t>
            </a:r>
            <a:endParaRPr lang="en-US" sz="1600" dirty="0"/>
          </a:p>
        </p:txBody>
      </p:sp>
      <p:sp>
        <p:nvSpPr>
          <p:cNvPr id="7" name="Shape 4"/>
          <p:cNvSpPr/>
          <p:nvPr/>
        </p:nvSpPr>
        <p:spPr>
          <a:xfrm>
            <a:off x="812800" y="2594508"/>
            <a:ext cx="10566400" cy="0"/>
          </a:xfrm>
          <a:prstGeom prst="line">
            <a:avLst/>
          </a:prstGeom>
          <a:noFill/>
          <a:ln w="12700">
            <a:solidFill>
              <a:srgbClr val="C9C3B6"/>
            </a:solidFill>
            <a:prstDash val="solid"/>
          </a:ln>
        </p:spPr>
      </p:sp>
      <p:pic>
        <p:nvPicPr>
          <p:cNvPr id="8" name="Image 1" descr="Warning">    </p:cNvPr>
          <p:cNvPicPr>
            <a:picLocks noChangeAspect="1"/>
          </p:cNvPicPr>
          <p:nvPr/>
        </p:nvPicPr>
        <p:blipFill>
          <a:blip r:embed="rId2"/>
          <a:srcRect l="0" r="0" t="-124" b="-124"/>
          <a:stretch/>
        </p:blipFill>
        <p:spPr>
          <a:xfrm>
            <a:off x="812800" y="2910681"/>
            <a:ext cx="240705" cy="254000"/>
          </a:xfrm>
          <a:prstGeom prst="rect">
            <a:avLst/>
          </a:prstGeom>
        </p:spPr>
      </p:pic>
      <p:sp>
        <p:nvSpPr>
          <p:cNvPr id="9" name="Text 5"/>
          <p:cNvSpPr/>
          <p:nvPr/>
        </p:nvSpPr>
        <p:spPr>
          <a:xfrm>
            <a:off x="1256705" y="2753258"/>
            <a:ext cx="1042617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Rules’ perfect scores on rule-based anomalies hold by construction, since those anomalies come from the same rules</a:t>
            </a:r>
            <a:endParaRPr lang="en-US" sz="1600" dirty="0"/>
          </a:p>
        </p:txBody>
      </p:sp>
      <p:sp>
        <p:nvSpPr>
          <p:cNvPr id="10" name="Shape 6"/>
          <p:cNvSpPr/>
          <p:nvPr/>
        </p:nvSpPr>
        <p:spPr>
          <a:xfrm>
            <a:off x="812800" y="3480860"/>
            <a:ext cx="10566400" cy="0"/>
          </a:xfrm>
          <a:prstGeom prst="line">
            <a:avLst/>
          </a:prstGeom>
          <a:noFill/>
          <a:ln w="12700">
            <a:solidFill>
              <a:srgbClr val="C9C3B6"/>
            </a:solidFill>
            <a:prstDash val="solid"/>
          </a:ln>
        </p:spPr>
      </p:sp>
      <p:pic>
        <p:nvPicPr>
          <p:cNvPr id="11" name="Image 2" descr="Warning">    </p:cNvPr>
          <p:cNvPicPr>
            <a:picLocks noChangeAspect="1"/>
          </p:cNvPicPr>
          <p:nvPr/>
        </p:nvPicPr>
        <p:blipFill>
          <a:blip r:embed="rId3"/>
          <a:srcRect l="0" r="0" t="0" b="0"/>
          <a:stretch/>
        </p:blipFill>
        <p:spPr>
          <a:xfrm>
            <a:off x="812800" y="3654822"/>
            <a:ext cx="254000" cy="254000"/>
          </a:xfrm>
          <a:prstGeom prst="rect">
            <a:avLst/>
          </a:prstGeom>
        </p:spPr>
      </p:pic>
      <p:sp>
        <p:nvSpPr>
          <p:cNvPr id="12" name="Text 7"/>
          <p:cNvSpPr/>
          <p:nvPr/>
        </p:nvSpPr>
        <p:spPr>
          <a:xfrm>
            <a:off x="1270000" y="3639610"/>
            <a:ext cx="4816634"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Subtle anomalies are defined by the authors</a:t>
            </a:r>
            <a:endParaRPr lang="en-US" sz="1600" dirty="0"/>
          </a:p>
        </p:txBody>
      </p:sp>
      <p:sp>
        <p:nvSpPr>
          <p:cNvPr id="13" name="Shape 8"/>
          <p:cNvSpPr/>
          <p:nvPr/>
        </p:nvSpPr>
        <p:spPr>
          <a:xfrm>
            <a:off x="812800" y="4082790"/>
            <a:ext cx="10566400" cy="0"/>
          </a:xfrm>
          <a:prstGeom prst="line">
            <a:avLst/>
          </a:prstGeom>
          <a:noFill/>
          <a:ln w="12700">
            <a:solidFill>
              <a:srgbClr val="C9C3B6"/>
            </a:solidFill>
            <a:prstDash val="solid"/>
          </a:ln>
        </p:spPr>
      </p:sp>
      <p:pic>
        <p:nvPicPr>
          <p:cNvPr id="14" name="Image 3" descr="Warning">    </p:cNvPr>
          <p:cNvPicPr>
            <a:picLocks noChangeAspect="1"/>
          </p:cNvPicPr>
          <p:nvPr/>
        </p:nvPicPr>
        <p:blipFill>
          <a:blip r:embed="rId4"/>
          <a:srcRect l="0" r="0" t="0" b="0"/>
          <a:stretch/>
        </p:blipFill>
        <p:spPr>
          <a:xfrm>
            <a:off x="812800" y="4256751"/>
            <a:ext cx="254000" cy="254000"/>
          </a:xfrm>
          <a:prstGeom prst="rect">
            <a:avLst/>
          </a:prstGeom>
        </p:spPr>
      </p:pic>
      <p:sp>
        <p:nvSpPr>
          <p:cNvPr id="15" name="Text 9"/>
          <p:cNvSpPr/>
          <p:nvPr/>
        </p:nvSpPr>
        <p:spPr>
          <a:xfrm>
            <a:off x="1270000" y="4241540"/>
            <a:ext cx="6074807"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Data from a single institution with three study programs</a:t>
            </a:r>
            <a:endParaRPr lang="en-US" sz="1600" dirty="0"/>
          </a:p>
        </p:txBody>
      </p:sp>
      <p:sp>
        <p:nvSpPr>
          <p:cNvPr id="16" name="Shape 10"/>
          <p:cNvSpPr/>
          <p:nvPr/>
        </p:nvSpPr>
        <p:spPr>
          <a:xfrm>
            <a:off x="812800" y="4684713"/>
            <a:ext cx="10566400" cy="0"/>
          </a:xfrm>
          <a:prstGeom prst="line">
            <a:avLst/>
          </a:prstGeom>
          <a:noFill/>
          <a:ln w="12700">
            <a:solidFill>
              <a:srgbClr val="C9C3B6"/>
            </a:solidFill>
            <a:prstDash val="solid"/>
          </a:ln>
        </p:spPr>
      </p:sp>
      <p:sp>
        <p:nvSpPr>
          <p:cNvPr id="17" name="Shape 11"/>
          <p:cNvSpPr/>
          <p:nvPr/>
        </p:nvSpPr>
        <p:spPr>
          <a:xfrm>
            <a:off x="812800" y="5286640"/>
            <a:ext cx="10566400" cy="0"/>
          </a:xfrm>
          <a:prstGeom prst="line">
            <a:avLst/>
          </a:prstGeom>
          <a:noFill/>
          <a:ln w="12700">
            <a:solidFill>
              <a:srgbClr val="C9C3B6"/>
            </a:solidFill>
            <a:prstDash val="solid"/>
          </a:ln>
        </p:spPr>
      </p:sp>
      <p:pic>
        <p:nvPicPr>
          <p:cNvPr id="18" name="Image 4" descr="Warning">    </p:cNvPr>
          <p:cNvPicPr>
            <a:picLocks noChangeAspect="1"/>
          </p:cNvPicPr>
          <p:nvPr/>
        </p:nvPicPr>
        <p:blipFill>
          <a:blip r:embed="rId5"/>
          <a:srcRect l="0" r="0" t="0" b="0"/>
          <a:stretch/>
        </p:blipFill>
        <p:spPr>
          <a:xfrm>
            <a:off x="812800" y="4858680"/>
            <a:ext cx="254000" cy="254000"/>
          </a:xfrm>
          <a:prstGeom prst="rect">
            <a:avLst/>
          </a:prstGeom>
        </p:spPr>
      </p:pic>
      <p:sp>
        <p:nvSpPr>
          <p:cNvPr id="19" name="Text 12"/>
          <p:cNvSpPr/>
          <p:nvPr/>
        </p:nvSpPr>
        <p:spPr>
          <a:xfrm>
            <a:off x="1270000" y="4843463"/>
            <a:ext cx="8537417"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Only 348 course records, which explains the large variance of the autoencoder</a:t>
            </a:r>
            <a:endParaRPr lang="en-US" sz="1600" dirty="0"/>
          </a:p>
        </p:txBody>
      </p:sp>
      <p:sp>
        <p:nvSpPr>
          <p:cNvPr id="20"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13 · Compliance anomaly detection in PDDIKTI data</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B4501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BF7F2"/>
                </a:solidFill>
                <a:latin typeface="IBM Plex Sans" pitchFamily="34" charset="0"/>
                <a:ea typeface="IBM Plex Sans" pitchFamily="34" charset="-122"/>
                <a:cs typeface="IBM Plex Sans" pitchFamily="34" charset="-120"/>
              </a:rPr>
              <a:t>CONCLUSION</a:t>
            </a:r>
            <a:endParaRPr lang="en-US" sz="1200" dirty="0"/>
          </a:p>
        </p:txBody>
      </p:sp>
      <p:sp>
        <p:nvSpPr>
          <p:cNvPr id="3" name="Text 1"/>
          <p:cNvSpPr/>
          <p:nvPr>
            <p:ph type="title"/>
          </p:nvPr>
        </p:nvSpPr>
        <p:spPr>
          <a:xfrm>
            <a:off x="812800" y="1229320"/>
            <a:ext cx="10203180" cy="15341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BF7F2"/>
                </a:solidFill>
                <a:latin typeface="Source Serif 4" pitchFamily="18" charset="0"/>
                <a:ea typeface="Source Serif 4" pitchFamily="18" charset="-122"/>
                <a:cs typeface="Source Serif 4" pitchFamily="18" charset="-120"/>
              </a:rPr>
              <a:t>Rule-based and machine learning detection are complementary for compliance checking of academic data.</a:t>
            </a:r>
            <a:endParaRPr lang="en-US" sz="3600" dirty="0"/>
          </a:p>
        </p:txBody>
      </p:sp>
      <p:sp>
        <p:nvSpPr>
          <p:cNvPr id="4" name="Text 2"/>
          <p:cNvSpPr/>
          <p:nvPr/>
        </p:nvSpPr>
        <p:spPr>
          <a:xfrm>
            <a:off x="812800" y="473809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BF7F2"/>
                </a:solidFill>
                <a:latin typeface="IBM Plex Sans" pitchFamily="34" charset="0"/>
                <a:ea typeface="IBM Plex Sans" pitchFamily="34" charset="-122"/>
                <a:cs typeface="IBM Plex Sans" pitchFamily="34" charset="-120"/>
              </a:rPr>
              <a:t>FUTURE WORK</a:t>
            </a:r>
            <a:endParaRPr lang="en-US" sz="1200" dirty="0"/>
          </a:p>
        </p:txBody>
      </p:sp>
      <p:sp>
        <p:nvSpPr>
          <p:cNvPr id="5" name="Shape 3"/>
          <p:cNvSpPr/>
          <p:nvPr/>
        </p:nvSpPr>
        <p:spPr>
          <a:xfrm>
            <a:off x="812800" y="5113338"/>
            <a:ext cx="3386667" cy="0"/>
          </a:xfrm>
          <a:prstGeom prst="line">
            <a:avLst/>
          </a:prstGeom>
          <a:noFill/>
          <a:ln w="19050">
            <a:solidFill>
              <a:srgbClr val="FBF7F2"/>
            </a:solidFill>
            <a:prstDash val="solid"/>
          </a:ln>
        </p:spPr>
      </p:sp>
      <p:sp>
        <p:nvSpPr>
          <p:cNvPr id="6" name="Text 4"/>
          <p:cNvSpPr/>
          <p:nvPr/>
        </p:nvSpPr>
        <p:spPr>
          <a:xfrm>
            <a:off x="812800" y="5273146"/>
            <a:ext cx="3488267"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BF7F2"/>
                </a:solidFill>
                <a:latin typeface="IBM Plex Sans" pitchFamily="34" charset="0"/>
                <a:ea typeface="IBM Plex Sans" pitchFamily="34" charset="-122"/>
                <a:cs typeface="IBM Plex Sans" pitchFamily="34" charset="-120"/>
              </a:rPr>
              <a:t>Validate on naturally occurring violations</a:t>
            </a:r>
            <a:endParaRPr lang="en-US" sz="1600" dirty="0"/>
          </a:p>
        </p:txBody>
      </p:sp>
      <p:sp>
        <p:nvSpPr>
          <p:cNvPr id="7" name="Shape 5"/>
          <p:cNvSpPr/>
          <p:nvPr/>
        </p:nvSpPr>
        <p:spPr>
          <a:xfrm>
            <a:off x="4402667" y="5113338"/>
            <a:ext cx="3386667" cy="0"/>
          </a:xfrm>
          <a:prstGeom prst="line">
            <a:avLst/>
          </a:prstGeom>
          <a:noFill/>
          <a:ln w="19050">
            <a:solidFill>
              <a:srgbClr val="FBF7F2"/>
            </a:solidFill>
            <a:prstDash val="solid"/>
          </a:ln>
        </p:spPr>
      </p:sp>
      <p:sp>
        <p:nvSpPr>
          <p:cNvPr id="8" name="Text 6"/>
          <p:cNvSpPr/>
          <p:nvPr/>
        </p:nvSpPr>
        <p:spPr>
          <a:xfrm>
            <a:off x="4402667" y="5273146"/>
            <a:ext cx="3488267"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BF7F2"/>
                </a:solidFill>
                <a:latin typeface="IBM Plex Sans" pitchFamily="34" charset="0"/>
                <a:ea typeface="IBM Plex Sans" pitchFamily="34" charset="-122"/>
                <a:cs typeface="IBM Plex Sans" pitchFamily="34" charset="-120"/>
              </a:rPr>
              <a:t>Extend to additional institutions</a:t>
            </a:r>
            <a:endParaRPr lang="en-US" sz="1600" dirty="0"/>
          </a:p>
        </p:txBody>
      </p:sp>
      <p:sp>
        <p:nvSpPr>
          <p:cNvPr id="9" name="Shape 7"/>
          <p:cNvSpPr/>
          <p:nvPr/>
        </p:nvSpPr>
        <p:spPr>
          <a:xfrm>
            <a:off x="7992534" y="5113338"/>
            <a:ext cx="3386667" cy="0"/>
          </a:xfrm>
          <a:prstGeom prst="line">
            <a:avLst/>
          </a:prstGeom>
          <a:noFill/>
          <a:ln w="19050">
            <a:solidFill>
              <a:srgbClr val="FBF7F2"/>
            </a:solidFill>
            <a:prstDash val="solid"/>
          </a:ln>
        </p:spPr>
      </p:sp>
      <p:sp>
        <p:nvSpPr>
          <p:cNvPr id="10" name="Text 8"/>
          <p:cNvSpPr/>
          <p:nvPr/>
        </p:nvSpPr>
        <p:spPr>
          <a:xfrm>
            <a:off x="7992534" y="5273146"/>
            <a:ext cx="3488267"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BF7F2"/>
                </a:solidFill>
                <a:latin typeface="IBM Plex Sans" pitchFamily="34" charset="0"/>
                <a:ea typeface="IBM Plex Sans" pitchFamily="34" charset="-122"/>
                <a:cs typeface="IBM Plex Sans" pitchFamily="34" charset="-120"/>
              </a:rPr>
              <a:t>Cover remaining entities such as enrollment history and study periods</a:t>
            </a:r>
            <a:endParaRPr lang="en-US" sz="16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BF7F2"/>
                </a:solidFill>
                <a:latin typeface="IBM Plex Sans" pitchFamily="34" charset="0"/>
                <a:ea typeface="IBM Plex Sans" pitchFamily="34" charset="-122"/>
                <a:cs typeface="IBM Plex Sans" pitchFamily="34" charset="-120"/>
              </a:rPr>
              <a:t>14 · Compliance anomaly detection in PDDIKTI data</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8636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7F6F2"/>
                </a:solidFill>
                <a:latin typeface="Source Serif 4" pitchFamily="18" charset="0"/>
                <a:ea typeface="Source Serif 4" pitchFamily="18" charset="-122"/>
                <a:cs typeface="Source Serif 4" pitchFamily="18" charset="-120"/>
              </a:rPr>
              <a:t>Thank you</a:t>
            </a:r>
            <a:endParaRPr lang="en-US" sz="6000" dirty="0"/>
          </a:p>
        </p:txBody>
      </p:sp>
      <p:sp>
        <p:nvSpPr>
          <p:cNvPr id="3" name="Text 1"/>
          <p:cNvSpPr/>
          <p:nvPr/>
        </p:nvSpPr>
        <p:spPr>
          <a:xfrm>
            <a:off x="812800" y="1854200"/>
            <a:ext cx="1088339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0A36B"/>
                </a:solidFill>
                <a:latin typeface="IBM Plex Sans" pitchFamily="34" charset="0"/>
                <a:ea typeface="IBM Plex Sans" pitchFamily="34" charset="-122"/>
                <a:cs typeface="IBM Plex Sans" pitchFamily="34" charset="-120"/>
              </a:rPr>
              <a:t>Questions and discussion</a:t>
            </a:r>
            <a:endParaRPr lang="en-US" sz="2200" dirty="0"/>
          </a:p>
        </p:txBody>
      </p:sp>
      <p:sp>
        <p:nvSpPr>
          <p:cNvPr id="4" name="Shape 2"/>
          <p:cNvSpPr/>
          <p:nvPr/>
        </p:nvSpPr>
        <p:spPr>
          <a:xfrm>
            <a:off x="812800" y="5337907"/>
            <a:ext cx="3318933" cy="0"/>
          </a:xfrm>
          <a:prstGeom prst="line">
            <a:avLst/>
          </a:prstGeom>
          <a:noFill/>
          <a:ln w="12700">
            <a:solidFill>
              <a:srgbClr val="3A4A6B"/>
            </a:solidFill>
            <a:prstDash val="solid"/>
          </a:ln>
        </p:spPr>
      </p:sp>
      <p:sp>
        <p:nvSpPr>
          <p:cNvPr id="5" name="Text 3"/>
          <p:cNvSpPr/>
          <p:nvPr/>
        </p:nvSpPr>
        <p:spPr>
          <a:xfrm>
            <a:off x="812800" y="5496657"/>
            <a:ext cx="3418501"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2"/>
                </a:solidFill>
                <a:latin typeface="IBM Plex Sans" pitchFamily="34" charset="0"/>
                <a:ea typeface="IBM Plex Sans" pitchFamily="34" charset="-122"/>
                <a:cs typeface="IBM Plex Sans" pitchFamily="34" charset="-120"/>
              </a:rPr>
              <a:t>Benny Leonard Enrico Panggabean</a:t>
            </a:r>
            <a:endParaRPr lang="en-US" sz="1600" dirty="0"/>
          </a:p>
        </p:txBody>
      </p:sp>
      <p:sp>
        <p:nvSpPr>
          <p:cNvPr id="6" name="Text 4"/>
          <p:cNvSpPr/>
          <p:nvPr/>
        </p:nvSpPr>
        <p:spPr>
          <a:xfrm>
            <a:off x="812800" y="5831880"/>
            <a:ext cx="34185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bendo01@gmail.com</a:t>
            </a:r>
            <a:endParaRPr lang="en-US" sz="1200" dirty="0"/>
          </a:p>
        </p:txBody>
      </p:sp>
      <p:sp>
        <p:nvSpPr>
          <p:cNvPr id="7" name="Shape 5"/>
          <p:cNvSpPr/>
          <p:nvPr/>
        </p:nvSpPr>
        <p:spPr>
          <a:xfrm>
            <a:off x="4436533" y="5337907"/>
            <a:ext cx="3318933" cy="0"/>
          </a:xfrm>
          <a:prstGeom prst="line">
            <a:avLst/>
          </a:prstGeom>
          <a:noFill/>
          <a:ln w="12700">
            <a:solidFill>
              <a:srgbClr val="3A4A6B"/>
            </a:solidFill>
            <a:prstDash val="solid"/>
          </a:ln>
        </p:spPr>
      </p:sp>
      <p:sp>
        <p:nvSpPr>
          <p:cNvPr id="8" name="Text 6"/>
          <p:cNvSpPr/>
          <p:nvPr/>
        </p:nvSpPr>
        <p:spPr>
          <a:xfrm>
            <a:off x="4436533" y="5496657"/>
            <a:ext cx="3418501"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2"/>
                </a:solidFill>
                <a:latin typeface="IBM Plex Sans" pitchFamily="34" charset="0"/>
                <a:ea typeface="IBM Plex Sans" pitchFamily="34" charset="-122"/>
                <a:cs typeface="IBM Plex Sans" pitchFamily="34" charset="-120"/>
              </a:rPr>
              <a:t>Amil Ahmad Ilham</a:t>
            </a:r>
            <a:endParaRPr lang="en-US" sz="1600" dirty="0"/>
          </a:p>
        </p:txBody>
      </p:sp>
      <p:sp>
        <p:nvSpPr>
          <p:cNvPr id="9" name="Text 7"/>
          <p:cNvSpPr/>
          <p:nvPr/>
        </p:nvSpPr>
        <p:spPr>
          <a:xfrm>
            <a:off x="4436533" y="5831880"/>
            <a:ext cx="34185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amil@unhas.ac.id</a:t>
            </a:r>
            <a:endParaRPr lang="en-US" sz="1200" dirty="0"/>
          </a:p>
        </p:txBody>
      </p:sp>
      <p:sp>
        <p:nvSpPr>
          <p:cNvPr id="10" name="Shape 8"/>
          <p:cNvSpPr/>
          <p:nvPr/>
        </p:nvSpPr>
        <p:spPr>
          <a:xfrm>
            <a:off x="8060267" y="5337907"/>
            <a:ext cx="3318933" cy="0"/>
          </a:xfrm>
          <a:prstGeom prst="line">
            <a:avLst/>
          </a:prstGeom>
          <a:noFill/>
          <a:ln w="12700">
            <a:solidFill>
              <a:srgbClr val="3A4A6B"/>
            </a:solidFill>
            <a:prstDash val="solid"/>
          </a:ln>
        </p:spPr>
      </p:sp>
      <p:sp>
        <p:nvSpPr>
          <p:cNvPr id="11" name="Text 9"/>
          <p:cNvSpPr/>
          <p:nvPr/>
        </p:nvSpPr>
        <p:spPr>
          <a:xfrm>
            <a:off x="8060267" y="5496657"/>
            <a:ext cx="3418501"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2"/>
                </a:solidFill>
                <a:latin typeface="IBM Plex Sans" pitchFamily="34" charset="0"/>
                <a:ea typeface="IBM Plex Sans" pitchFamily="34" charset="-122"/>
                <a:cs typeface="IBM Plex Sans" pitchFamily="34" charset="-120"/>
              </a:rPr>
              <a:t>Novy N. R. A. Mokobombang</a:t>
            </a:r>
            <a:endParaRPr lang="en-US" sz="1600" dirty="0"/>
          </a:p>
        </p:txBody>
      </p:sp>
      <p:sp>
        <p:nvSpPr>
          <p:cNvPr id="12" name="Text 10"/>
          <p:cNvSpPr/>
          <p:nvPr/>
        </p:nvSpPr>
        <p:spPr>
          <a:xfrm>
            <a:off x="8060267" y="5831880"/>
            <a:ext cx="34185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novy@unhas.ac.id</a:t>
            </a:r>
            <a:endParaRPr lang="en-US" sz="1200" dirty="0"/>
          </a:p>
        </p:txBody>
      </p:sp>
    </p:spTree>
  </p:cSld>
  <p:clrMapOvr>
    <a:masterClrMapping/>
  </p:clrMapOvr>
</p:sld>
</file>

<file path=ppt/theme/theme1.xml><?xml version="1.0" encoding="utf-8"?>
<a:theme xmlns:a="http://schemas.openxmlformats.org/drawingml/2006/main" name="Compliance Anomaly Detection in PDDIKTI">
  <a:themeElements>
    <a:clrScheme name="Compliance Anomaly Detection in PDDIKTI">
      <a:dk1>
        <a:srgbClr val="14213D"/>
      </a:dk1>
      <a:lt1>
        <a:srgbClr val="F7F6F2"/>
      </a:lt1>
      <a:dk2>
        <a:srgbClr val="4D566A"/>
      </a:dk2>
      <a:lt2>
        <a:srgbClr val="E0E1E0"/>
      </a:lt2>
      <a:accent1>
        <a:srgbClr val="B4501A"/>
      </a:accent1>
      <a:accent2>
        <a:srgbClr val="2B5C9E"/>
      </a:accent2>
      <a:accent3>
        <a:srgbClr val="F0A36B"/>
      </a:accent3>
      <a:accent4>
        <a:srgbClr val="3F4A5C"/>
      </a:accent4>
      <a:accent5>
        <a:srgbClr val="C9D3E3"/>
      </a:accent5>
      <a:accent6>
        <a:srgbClr val="6B7280"/>
      </a:accent6>
      <a:hlink>
        <a:srgbClr val="0563C1"/>
      </a:hlink>
      <a:folHlink>
        <a:srgbClr val="954F72"/>
      </a:folHlink>
    </a:clrScheme>
    <a:fontScheme name="Compliance Anomaly Detection in PDDIKTI">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Compliance Anomaly Detection in PDDIKTI</dc:title>
  <dc:subject/>
  <dc:creator/>
  <cp:lastModifiedBy/>
  <cp:revision>1</cp:revision>
  <dcterms:created xsi:type="dcterms:W3CDTF">2026-10-24T07:13:00Z</dcterms:created>
  <dcterms:modified xsi:type="dcterms:W3CDTF">2026-10-24T07:13:00Z</dcterms:modified>
</cp:coreProperties>
</file>